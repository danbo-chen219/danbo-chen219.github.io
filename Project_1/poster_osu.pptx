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9" d="100"/>
          <a:sy n="19" d="100"/>
        </p:scale>
        <p:origin x="1332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65C9F-0040-427A-88F0-5F57209A9C8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C4952-686F-445F-91D9-D4179D64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4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C4952-686F-445F-91D9-D4179D646E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31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0" cy="438912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34256"/>
            <a:ext cx="4389120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389120"/>
            <a:ext cx="43891200" cy="2752343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31912560"/>
            <a:ext cx="43891200" cy="10058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31912560"/>
            <a:ext cx="43891200" cy="54864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590288"/>
            <a:ext cx="11135197" cy="475488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2336" y="6859256"/>
            <a:ext cx="11135197" cy="7754112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65760" y="13021056"/>
            <a:ext cx="11135197" cy="475488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3496544"/>
            <a:ext cx="11135197" cy="2816352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514064"/>
            <a:ext cx="11135197" cy="475488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6989552"/>
            <a:ext cx="11135197" cy="5468112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2658832"/>
            <a:ext cx="11135197" cy="475488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134320"/>
            <a:ext cx="11135197" cy="8778239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912437" y="4590288"/>
            <a:ext cx="19119738" cy="475488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912437" y="5065775"/>
            <a:ext cx="19119738" cy="9765792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912437" y="15032735"/>
            <a:ext cx="19119738" cy="475488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912437" y="15508223"/>
            <a:ext cx="19119738" cy="16404336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443655" y="4590288"/>
            <a:ext cx="12081784" cy="475488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443655" y="5065775"/>
            <a:ext cx="12081784" cy="8668512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443655" y="13935456"/>
            <a:ext cx="12081784" cy="475488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443655" y="14410944"/>
            <a:ext cx="12081784" cy="9400032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443655" y="24012144"/>
            <a:ext cx="12081784" cy="47548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443655" y="24487632"/>
            <a:ext cx="12081784" cy="7424927"/>
          </a:xfrm>
          <a:prstGeom prst="rect">
            <a:avLst/>
          </a:prstGeom>
          <a:solidFill>
            <a:srgbClr val="FFEBEB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56032"/>
            <a:ext cx="298460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800" b="1" i="0" dirty="0">
                <a:solidFill>
                  <a:srgbClr val="FFFFFF"/>
                </a:solidFill>
              </a:rPr>
              <a:t>The Energy Cost of Artificial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1833693"/>
            <a:ext cx="298460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6000" b="1" i="0" dirty="0">
                <a:solidFill>
                  <a:schemeClr val="bg1"/>
                </a:solidFill>
              </a:rPr>
              <a:t>-</a:t>
            </a:r>
            <a:r>
              <a:rPr sz="6000" b="1" i="0" dirty="0">
                <a:solidFill>
                  <a:schemeClr val="bg1"/>
                </a:solidFill>
              </a:rPr>
              <a:t>Modeling AI-Driven Data Center Electricity Demand with </a:t>
            </a:r>
            <a:r>
              <a:rPr lang="en-US" sz="6000" b="1" dirty="0">
                <a:solidFill>
                  <a:schemeClr val="bg1"/>
                </a:solidFill>
              </a:rPr>
              <a:t>L</a:t>
            </a:r>
            <a:r>
              <a:rPr sz="6000" b="1" i="0" dirty="0">
                <a:solidFill>
                  <a:schemeClr val="bg1"/>
                </a:solidFill>
              </a:rPr>
              <a:t>L</a:t>
            </a:r>
            <a:r>
              <a:rPr lang="en-US" sz="6000" b="1" i="0" dirty="0">
                <a:solidFill>
                  <a:schemeClr val="bg1"/>
                </a:solidFill>
              </a:rPr>
              <a:t>M</a:t>
            </a:r>
            <a:r>
              <a:rPr sz="6000" b="1" i="0" dirty="0">
                <a:solidFill>
                  <a:schemeClr val="bg1"/>
                </a:solidFill>
              </a:rPr>
              <a:t> Predictions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2933787"/>
            <a:ext cx="2984601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4400" b="1" i="1" dirty="0">
                <a:solidFill>
                  <a:schemeClr val="bg1"/>
                </a:solidFill>
              </a:rPr>
              <a:t>Danbo Chen</a:t>
            </a:r>
            <a:r>
              <a:rPr sz="4400" b="1" i="1" dirty="0">
                <a:solidFill>
                  <a:schemeClr val="bg1"/>
                </a:solidFill>
              </a:rPr>
              <a:t>  </a:t>
            </a:r>
            <a:r>
              <a:rPr sz="4400" b="0" i="1" dirty="0">
                <a:solidFill>
                  <a:schemeClr val="bg1"/>
                </a:solidFill>
              </a:rPr>
              <a:t>•  </a:t>
            </a:r>
            <a:r>
              <a:rPr lang="en-US" sz="4400" b="0" i="1" dirty="0">
                <a:solidFill>
                  <a:schemeClr val="bg1"/>
                </a:solidFill>
              </a:rPr>
              <a:t>The </a:t>
            </a:r>
            <a:r>
              <a:rPr lang="en-US" sz="4400" i="1" dirty="0">
                <a:solidFill>
                  <a:schemeClr val="bg1"/>
                </a:solidFill>
              </a:rPr>
              <a:t>Ohio State University</a:t>
            </a:r>
            <a:r>
              <a:rPr sz="4400" b="0" i="1" dirty="0">
                <a:solidFill>
                  <a:schemeClr val="bg1"/>
                </a:solidFill>
              </a:rPr>
              <a:t>  •  </a:t>
            </a:r>
            <a:r>
              <a:rPr lang="en-US" sz="4400" b="0" i="1" dirty="0">
                <a:solidFill>
                  <a:schemeClr val="bg1"/>
                </a:solidFill>
              </a:rPr>
              <a:t>AAEA conference 2026</a:t>
            </a:r>
          </a:p>
          <a:p>
            <a:r>
              <a:rPr lang="en-US" sz="4400" i="1" dirty="0">
                <a:solidFill>
                  <a:schemeClr val="bg1"/>
                </a:solidFill>
              </a:rPr>
              <a:t>Zijun Zhou •  Meta Platform</a:t>
            </a:r>
          </a:p>
          <a:p>
            <a:pPr algn="l">
              <a:spcAft>
                <a:spcPts val="0"/>
              </a:spcAft>
            </a:pPr>
            <a:endParaRPr sz="4400" b="0" i="1" dirty="0">
              <a:solidFill>
                <a:schemeClr val="bg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8039040" y="228600"/>
            <a:ext cx="5303520" cy="3913632"/>
          </a:xfrm>
          <a:prstGeom prst="rect">
            <a:avLst/>
          </a:prstGeom>
          <a:solidFill>
            <a:srgbClr val="7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148768" y="356616"/>
            <a:ext cx="5084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BBBBBB"/>
                </a:solidFill>
              </a:rPr>
              <a:t>Global DC Electricity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48768" y="850392"/>
            <a:ext cx="50840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</a:rPr>
              <a:t>415 TWh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48768" y="1655064"/>
            <a:ext cx="5084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 dirty="0">
                <a:solidFill>
                  <a:schemeClr val="bg1">
                    <a:lumMod val="95000"/>
                  </a:schemeClr>
                </a:solidFill>
              </a:rPr>
              <a:t>2024  ➡  945 TWh  (2030)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48768" y="2221992"/>
            <a:ext cx="5084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1" dirty="0">
                <a:solidFill>
                  <a:srgbClr val="999999"/>
                </a:solidFill>
              </a:rPr>
              <a:t>IEA projection — data centers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48768" y="2651760"/>
            <a:ext cx="5084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 dirty="0">
                <a:solidFill>
                  <a:srgbClr val="BBBBBB"/>
                </a:solidFill>
              </a:rPr>
              <a:t>≈ 3 % of global power by 2030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48768" y="3136392"/>
            <a:ext cx="5084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 dirty="0">
                <a:solidFill>
                  <a:srgbClr val="BBBBBB"/>
                </a:solidFill>
              </a:rPr>
              <a:t>6× more power than legacy racks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" y="4554019"/>
            <a:ext cx="109340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FFFFFF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 &amp; Motivation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193791"/>
            <a:ext cx="10769437" cy="588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 dirty="0">
                <a:solidFill>
                  <a:srgbClr val="1A1A1A"/>
                </a:solidFill>
              </a:rPr>
              <a:t>•  Generative AI is driving unprecedented growth in global computational demand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 dirty="0">
                <a:solidFill>
                  <a:srgbClr val="1A1A1A"/>
                </a:solidFill>
              </a:rPr>
              <a:t>•  AI GPU racks consume up to 6× more power than conventional server racks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 dirty="0">
                <a:solidFill>
                  <a:srgbClr val="1A1A1A"/>
                </a:solidFill>
              </a:rPr>
              <a:t>•  Energy demand scales super-linearly with model size; deployment is globally uneven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 dirty="0">
                <a:solidFill>
                  <a:srgbClr val="1A1A1A"/>
                </a:solidFill>
              </a:rPr>
              <a:t>•  Conventional forecasts fail to capture spatial concentration and firm-level siting strategies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600" b="0" i="0" dirty="0">
                <a:solidFill>
                  <a:srgbClr val="1A1A1A"/>
                </a:solidFill>
              </a:rPr>
              <a:t>•  The compute–energy nexus is poorly quantified in current energy-planning frameworks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11476944"/>
            <a:ext cx="3498372" cy="10058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1" y="11486608"/>
            <a:ext cx="3406932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 dirty="0">
                <a:solidFill>
                  <a:srgbClr val="FFFFFF"/>
                </a:solidFill>
              </a:rPr>
              <a:t>118 TWh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1" y="12064770"/>
            <a:ext cx="34069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 dirty="0">
                <a:solidFill>
                  <a:schemeClr val="bg1"/>
                </a:solidFill>
              </a:rPr>
              <a:t>6-firm baseline (2024)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84172" y="11478329"/>
            <a:ext cx="3498372" cy="10058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29892" y="11547567"/>
            <a:ext cx="3406932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 dirty="0">
                <a:solidFill>
                  <a:srgbClr val="FFFFFF"/>
                </a:solidFill>
              </a:rPr>
              <a:t>239–295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9892" y="12064203"/>
            <a:ext cx="34069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 dirty="0">
                <a:solidFill>
                  <a:schemeClr val="bg1"/>
                </a:solidFill>
              </a:rPr>
              <a:t>TWh by 2030 (modeled)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9704" y="11478329"/>
            <a:ext cx="3498372" cy="10058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5424" y="11547567"/>
            <a:ext cx="3406932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</a:rPr>
              <a:t>13–17 %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0873" y="12128211"/>
            <a:ext cx="34069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 dirty="0">
                <a:solidFill>
                  <a:schemeClr val="bg1"/>
                </a:solidFill>
              </a:rPr>
              <a:t>CAGR (2024–2030)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" y="13085064"/>
            <a:ext cx="109340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13624560"/>
            <a:ext cx="10769437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 dirty="0">
                <a:solidFill>
                  <a:srgbClr val="1A1A1A"/>
                </a:solidFill>
              </a:rPr>
              <a:t>¹  Where will AI data centers be built, and what drives siting decisions?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 dirty="0">
                <a:solidFill>
                  <a:srgbClr val="1A1A1A"/>
                </a:solidFill>
              </a:rPr>
              <a:t>²  How fast will their electricity demand grow from 2025 to 2030?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 dirty="0">
                <a:solidFill>
                  <a:srgbClr val="1A1A1A"/>
                </a:solidFill>
              </a:rPr>
              <a:t>³  Which regions face grid stress from concentrated AI loads?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" y="16578072"/>
            <a:ext cx="109340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Data &amp; Inputs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17375529"/>
            <a:ext cx="11107765" cy="4665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i="0" dirty="0"/>
              <a:t>•  Corporate disclosures: SEC EDGAR filings, ESG reports, earnings calls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i="0" dirty="0"/>
              <a:t>•  Infrastructure registry: S&amp;P Capital IQ — facility counts 2015–2024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i="0" dirty="0"/>
              <a:t>•  Energy data: IEA, U.S. EIA (state-level), World Bank, OECD Energy Statistics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i="0" dirty="0"/>
              <a:t>•  Geospatial: Landsat 8 / Sentinel-2 via Google Earth Engine, OpenStreetMap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i="0" dirty="0"/>
              <a:t>•  Policy documents: U.S. DOE, European Commission DG-ENER, national grid operators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3000" b="1" i="0" dirty="0"/>
              <a:t>Firms covered: Amazon · Microsoft · Google · Meta · Oracle · Apple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" y="22722840"/>
            <a:ext cx="1093402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Result 1 — Global Siting Patterns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23262336"/>
            <a:ext cx="10769437" cy="7927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1A1A1A"/>
                </a:solidFill>
              </a:rPr>
              <a:t>•  &gt;90 % of AI compute concentrated in North America, Western Europe, and Asia–Pacific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1A1A1A"/>
                </a:solidFill>
              </a:rPr>
              <a:t>•  Siting driven by renewables, policy corridors, and connectivity — not user proximity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1A1A1A"/>
                </a:solidFill>
              </a:rPr>
              <a:t>•  Five strategic archetypes identified: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1" i="0" dirty="0"/>
              <a:t>   –  Renewable-anchored — Google, Meta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1" i="0" dirty="0"/>
              <a:t>   –  Policy-responsive — Microsoft, Oracle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1" i="0" dirty="0"/>
              <a:t>   –  Market-expanding — Amazon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1" i="0" dirty="0"/>
              <a:t>   –  Vertically integrated — Apple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000" b="0" i="0" dirty="0">
                <a:solidFill>
                  <a:srgbClr val="1A1A1A"/>
                </a:solidFill>
              </a:rPr>
              <a:t>•  Top hubs: Virginia, Texas, Oregon, Iowa (US) · Netherlands, Nordic (EU) · Singapore, Taiwan, Japan (APAC)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241621" y="4518100"/>
            <a:ext cx="18918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 dirty="0">
                <a:solidFill>
                  <a:srgbClr val="FFFFFF"/>
                </a:solidFill>
                <a:latin typeface="Aptos Black" panose="020B0004020202020204" pitchFamily="34" charset="0"/>
              </a:rPr>
              <a:t>Framework: AI–Energy Coupling (RAG + LLM Pipeline)</a:t>
            </a:r>
          </a:p>
        </p:txBody>
      </p:sp>
      <p:pic>
        <p:nvPicPr>
          <p:cNvPr id="53" name="Picture 52" descr="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597" y="5258323"/>
            <a:ext cx="18162179" cy="905045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2387057" y="14484096"/>
            <a:ext cx="846223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666666"/>
                </a:solidFill>
              </a:rPr>
              <a:t>Tools: all-MiniLM-L6-v2 · FAISS · GPT-4o-mini · LangChain · Python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040453" y="15096743"/>
            <a:ext cx="189185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 dirty="0">
                <a:solidFill>
                  <a:srgbClr val="FFFFFF"/>
                </a:solidFill>
                <a:latin typeface="Aptos Black" panose="020B0004020202020204" pitchFamily="34" charset="0"/>
              </a:rPr>
              <a:t>Result 1 — Global AI Data-Center Distribution &amp; Siting Determinants</a:t>
            </a:r>
          </a:p>
        </p:txBody>
      </p:sp>
      <p:pic>
        <p:nvPicPr>
          <p:cNvPr id="57" name="Picture 56" descr="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5317" y="15636239"/>
            <a:ext cx="18753978" cy="1585569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2095317" y="31546800"/>
            <a:ext cx="1875397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666666"/>
                </a:solidFill>
              </a:rPr>
              <a:t>Fig. 1  (a) Global distribution of data-center sites: small markers = legacy; large circles = new AI sites (size ∝ siting probability).  (b) Firm–determinant intensity matrix.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71671" y="4654296"/>
            <a:ext cx="11880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 dirty="0">
                <a:solidFill>
                  <a:srgbClr val="FFFFFF"/>
                </a:solidFill>
                <a:latin typeface="Aptos Black" panose="020B0004020202020204" pitchFamily="34" charset="0"/>
              </a:rPr>
              <a:t>Result 2 — Electricity Demand Forecast (2025–2030)</a:t>
            </a:r>
          </a:p>
        </p:txBody>
      </p:sp>
      <p:pic>
        <p:nvPicPr>
          <p:cNvPr id="60" name="Picture 59" descr="Fi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6535" y="5193791"/>
            <a:ext cx="11716024" cy="45720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31626535" y="9811512"/>
            <a:ext cx="11716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666666"/>
                </a:solidFill>
              </a:rPr>
              <a:t>Fig. 2  (a) Firm-level trajectories; (b) Global aggregated scenario forecast 2018–2030.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31626535" y="10213848"/>
          <a:ext cx="1171602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B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B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Baseline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~118 TWh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Conservative 2030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~239 TWh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Optimistic 2030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~295 TWh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CAGR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13–17 %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IEA cross-check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~265 TWh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Equiv. load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 dirty="0">
                          <a:solidFill>
                            <a:srgbClr val="1A1A1A"/>
                          </a:solidFill>
                        </a:rPr>
                        <a:t>~27 M US HH/yr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31626535" y="13231368"/>
            <a:ext cx="11716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 dirty="0">
                <a:solidFill>
                  <a:srgbClr val="1A1A1A"/>
                </a:solidFill>
              </a:rPr>
              <a:t>•  Amazon, Microsoft, Google dominate absolute demand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 dirty="0">
                <a:solidFill>
                  <a:srgbClr val="1A1A1A"/>
                </a:solidFill>
              </a:rPr>
              <a:t>•  Growth accelerates post-2027 with large-scale generative-AI deployment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 dirty="0">
                <a:solidFill>
                  <a:srgbClr val="1A1A1A"/>
                </a:solidFill>
              </a:rPr>
              <a:t>•  Modeled range cross-validated against IEA benchmark (≈265 TWh implied)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571671" y="13999464"/>
            <a:ext cx="11880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 dirty="0">
                <a:solidFill>
                  <a:srgbClr val="FFFFFF"/>
                </a:solidFill>
              </a:rPr>
              <a:t>Result 3 — Regional Power Stress Index (PSI)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626535" y="14538960"/>
            <a:ext cx="11716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8B0000"/>
                </a:solidFill>
              </a:rPr>
              <a:t>PSI = Eᴰᶜ / Eˢᵘᵖᵖˡʸ     ● &gt; 0.40 Extreme   ● &gt; 0.25 High   ● &lt; 0.10 Resilient</a:t>
            </a:r>
          </a:p>
        </p:txBody>
      </p:sp>
      <p:pic>
        <p:nvPicPr>
          <p:cNvPr id="66" name="Picture 65" descr="Fig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6535" y="14996159"/>
            <a:ext cx="11716024" cy="43452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1626535" y="19387108"/>
            <a:ext cx="11716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666666"/>
                </a:solidFill>
              </a:rPr>
              <a:t>Fig. 3  (a) DC demand by firm &amp; region 2030.  (b) PSI bar chart; dashed lines at 0.25 and 0.40 thresholds.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1626535" y="19789444"/>
          <a:ext cx="11716022" cy="2765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6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0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02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B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PSI (2030)</a:t>
                      </a:r>
                    </a:p>
                  </a:txBody>
                  <a:tcPr>
                    <a:solidFill>
                      <a:srgbClr val="B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B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02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Ireland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~0.50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Extreme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02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Oregon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~0.40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High ⚠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02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Iowa / Virginia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0.20–0.30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Elevated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02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Texas / Japan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&lt;0.10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Resilient ✓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31626535" y="22646030"/>
            <a:ext cx="11716024" cy="125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 dirty="0">
                <a:solidFill>
                  <a:srgbClr val="1A1A1A"/>
                </a:solidFill>
              </a:rPr>
              <a:t>•  &lt;10 regions account for ≈two-thirds of total projected AI electricity load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 dirty="0">
                <a:solidFill>
                  <a:srgbClr val="1A1A1A"/>
                </a:solidFill>
              </a:rPr>
              <a:t>•  PSI &gt; 0.25 signals need for dedicated transmission expansion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 dirty="0">
                <a:solidFill>
                  <a:srgbClr val="1A1A1A"/>
                </a:solidFill>
              </a:rPr>
              <a:t>•  Texas advantage: independent grid, renewable diversity, efficient interconnection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571671" y="24076152"/>
            <a:ext cx="11880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Conclusions &amp; Policy Implications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626535" y="24615648"/>
            <a:ext cx="11716024" cy="6865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 i="0" dirty="0">
                <a:solidFill>
                  <a:srgbClr val="8B0000"/>
                </a:solidFill>
              </a:rPr>
              <a:t>Key Findings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dirty="0">
                <a:solidFill>
                  <a:srgbClr val="1A1A1A"/>
                </a:solidFill>
              </a:rPr>
              <a:t>•  AI infrastructure is evolving from a marginal load into a structural grid component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dirty="0">
                <a:solidFill>
                  <a:srgbClr val="1A1A1A"/>
                </a:solidFill>
              </a:rPr>
              <a:t>•  Spatial clustering creates a “digital energy divide” between stressed and resilient regions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dirty="0">
                <a:solidFill>
                  <a:srgbClr val="1A1A1A"/>
                </a:solidFill>
              </a:rPr>
              <a:t>•  Absent coordination, AI demand could offset planned renewable additions by 2030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2800" b="1" i="0" dirty="0">
                <a:solidFill>
                  <a:srgbClr val="8B0000"/>
                </a:solidFill>
              </a:rPr>
              <a:t>Policy Recommendations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i="0" dirty="0">
                <a:solidFill>
                  <a:srgbClr val="1A1A1A"/>
                </a:solidFill>
              </a:rPr>
              <a:t>•  Incorporate AI load projections into national capacity-expansion plans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i="0" dirty="0">
                <a:solidFill>
                  <a:srgbClr val="1A1A1A"/>
                </a:solidFill>
              </a:rPr>
              <a:t>•  Pair fiscal incentives with mandatory renewable procurement requirements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i="0" dirty="0">
                <a:solidFill>
                  <a:srgbClr val="1A1A1A"/>
                </a:solidFill>
              </a:rPr>
              <a:t>•  Deploy data centers as anchor loads for PPAs and demand response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i="0" dirty="0">
                <a:solidFill>
                  <a:srgbClr val="1A1A1A"/>
                </a:solidFill>
              </a:rPr>
              <a:t>•  Strengthen grid interties in high-stress corridors (Oregon, Ireland, Virginia)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i="0" dirty="0">
                <a:solidFill>
                  <a:srgbClr val="1A1A1A"/>
                </a:solidFill>
              </a:rPr>
              <a:t>•  Direct new investment toward renewable-rich, resilient regions (Texas, Nordic)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2141160"/>
            <a:ext cx="43159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 dirty="0"/>
              <a:t>Data:  IEA  ·  U.S. EIA  ·  S&amp;P Capital IQ  ·  SEC EDGAR  ·  World Bank  ·  OECD Energy Statistics          |          Model:  RAG + GPT-4o-mini  ·  </a:t>
            </a:r>
            <a:r>
              <a:rPr sz="3600" b="1" i="0" dirty="0" err="1"/>
              <a:t>LangChain</a:t>
            </a:r>
            <a:r>
              <a:rPr sz="3600" b="1" i="0" dirty="0"/>
              <a:t>  ·  FAISS  ·  all-MiniLM-L6-v2          |          Code &amp; data available upon request</a:t>
            </a:r>
          </a:p>
        </p:txBody>
      </p:sp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618245"/>
              </p:ext>
            </p:extLst>
          </p:nvPr>
        </p:nvGraphicFramePr>
        <p:xfrm>
          <a:off x="48284171" y="6278007"/>
          <a:ext cx="8462236" cy="9171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2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857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B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B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857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1.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Corpus 2015–25: filings, ESG, policy, news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857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2. 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Sentiment-aware RAG → siting probabilities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857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 dirty="0">
                          <a:solidFill>
                            <a:srgbClr val="1A1A1A"/>
                          </a:solidFill>
                        </a:rPr>
                        <a:t>3. 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 dirty="0">
                          <a:solidFill>
                            <a:srgbClr val="1A1A1A"/>
                          </a:solidFill>
                        </a:rPr>
                        <a:t>LLM extracts GPU count, PUE, 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857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4. Forecast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3 scenarios: 15 / 25 / 35 % annual growth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857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>
                          <a:solidFill>
                            <a:srgbClr val="1A1A1A"/>
                          </a:solidFill>
                        </a:rPr>
                        <a:t>5. PSI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800" b="0" dirty="0">
                          <a:solidFill>
                            <a:srgbClr val="1A1A1A"/>
                          </a:solidFill>
                        </a:rPr>
                        <a:t>PSI = Eᴰᶜ / 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</a:rPr>
                        <a:t>Eˢ</a:t>
                      </a:r>
                      <a:r>
                        <a:rPr sz="1800" b="0" dirty="0">
                          <a:solidFill>
                            <a:srgbClr val="1A1A1A"/>
                          </a:solidFill>
                        </a:rPr>
                        <a:t>ᵘᵖᵖ</a:t>
                      </a:r>
                      <a:r>
                        <a:rPr sz="1800" b="0" dirty="0" err="1">
                          <a:solidFill>
                            <a:srgbClr val="1A1A1A"/>
                          </a:solidFill>
                        </a:rPr>
                        <a:t>ˡʸ</a:t>
                      </a:r>
                      <a:endParaRPr sz="1800" b="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</TotalTime>
  <Words>881</Words>
  <Application>Microsoft Office PowerPoint</Application>
  <PresentationFormat>Custom</PresentationFormat>
  <Paragraphs>111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Black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Kirby Chen</dc:creator>
  <cp:keywords/>
  <dc:description>generated using python-pptx</dc:description>
  <cp:lastModifiedBy>Chen, Danbo</cp:lastModifiedBy>
  <cp:revision>4</cp:revision>
  <dcterms:created xsi:type="dcterms:W3CDTF">2013-01-27T09:14:16Z</dcterms:created>
  <dcterms:modified xsi:type="dcterms:W3CDTF">2026-03-24T01:13:03Z</dcterms:modified>
  <cp:category/>
</cp:coreProperties>
</file>