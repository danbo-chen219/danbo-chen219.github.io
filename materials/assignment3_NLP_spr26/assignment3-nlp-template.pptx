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23"/>
  </p:notesMasterIdLst>
  <p:sldIdLst>
    <p:sldId id="256" r:id="rId4"/>
    <p:sldId id="269" r:id="rId5"/>
    <p:sldId id="259" r:id="rId6"/>
    <p:sldId id="270" r:id="rId7"/>
    <p:sldId id="271" r:id="rId8"/>
    <p:sldId id="275" r:id="rId9"/>
    <p:sldId id="272" r:id="rId10"/>
    <p:sldId id="273" r:id="rId11"/>
    <p:sldId id="274" r:id="rId12"/>
    <p:sldId id="262" r:id="rId13"/>
    <p:sldId id="263" r:id="rId14"/>
    <p:sldId id="276" r:id="rId15"/>
    <p:sldId id="264" r:id="rId16"/>
    <p:sldId id="265" r:id="rId17"/>
    <p:sldId id="277" r:id="rId18"/>
    <p:sldId id="266" r:id="rId19"/>
    <p:sldId id="279" r:id="rId20"/>
    <p:sldId id="268" r:id="rId21"/>
    <p:sldId id="278" r:id="rId22"/>
  </p:sldIdLst>
  <p:sldSz cx="9144000" cy="5143500" type="screen16x9"/>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121" d="100"/>
          <a:sy n="121" d="100"/>
        </p:scale>
        <p:origin x="33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E2F2B5B0-A39F-403D-8190-2B94FFBF2C9A}" type="datetimeFigureOut">
              <a:rPr lang="en-US" smtClean="0"/>
              <a:t>3/15/2026</a:t>
            </a:fld>
            <a:endParaRPr lang="en-US"/>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2805FA32-C232-4EB0-BAD7-5E4A021D9C97}" type="slidenum">
              <a:rPr lang="en-US" smtClean="0"/>
              <a:t>‹#›</a:t>
            </a:fld>
            <a:endParaRPr lang="en-US"/>
          </a:p>
        </p:txBody>
      </p:sp>
    </p:spTree>
    <p:extLst>
      <p:ext uri="{BB962C8B-B14F-4D97-AF65-F5344CB8AC3E}">
        <p14:creationId xmlns:p14="http://schemas.microsoft.com/office/powerpoint/2010/main" val="179162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05FA32-C232-4EB0-BAD7-5E4A021D9C97}" type="slidenum">
              <a:rPr lang="en-US" smtClean="0"/>
              <a:t>11</a:t>
            </a:fld>
            <a:endParaRPr lang="en-US"/>
          </a:p>
        </p:txBody>
      </p:sp>
    </p:spTree>
    <p:extLst>
      <p:ext uri="{BB962C8B-B14F-4D97-AF65-F5344CB8AC3E}">
        <p14:creationId xmlns:p14="http://schemas.microsoft.com/office/powerpoint/2010/main" val="3757814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3" name="PlaceHolder 2"/>
          <p:cNvSpPr>
            <a:spLocks noGrp="1"/>
          </p:cNvSpPr>
          <p:nvPr>
            <p:ph type="subTitle"/>
          </p:nvPr>
        </p:nvSpPr>
        <p:spPr>
          <a:xfrm>
            <a:off x="457200" y="1203480"/>
            <a:ext cx="8229240" cy="29829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5" name="PlaceHolder 2"/>
          <p:cNvSpPr>
            <a:spLocks noGrp="1"/>
          </p:cNvSpPr>
          <p:nvPr>
            <p:ph type="body"/>
          </p:nvPr>
        </p:nvSpPr>
        <p:spPr>
          <a:xfrm>
            <a:off x="457200" y="1203480"/>
            <a:ext cx="8229240" cy="298296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7"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US" sz="3200" b="0" strike="noStrike" spc="-1">
              <a:latin typeface="Arial"/>
            </a:endParaRPr>
          </a:p>
        </p:txBody>
      </p:sp>
      <p:sp>
        <p:nvSpPr>
          <p:cNvPr id="8"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05200"/>
            <a:ext cx="8229240" cy="39812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12"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13"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US" sz="3200" b="0" strike="noStrike" spc="-1">
              <a:latin typeface="Arial"/>
            </a:endParaRPr>
          </a:p>
        </p:txBody>
      </p:sp>
      <p:sp>
        <p:nvSpPr>
          <p:cNvPr id="14"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16"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US" sz="3200" b="0" strike="noStrike" spc="-1">
              <a:latin typeface="Arial"/>
            </a:endParaRPr>
          </a:p>
        </p:txBody>
      </p:sp>
      <p:sp>
        <p:nvSpPr>
          <p:cNvPr id="17"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18" name="PlaceHolder 4"/>
          <p:cNvSpPr>
            <a:spLocks noGrp="1"/>
          </p:cNvSpPr>
          <p:nvPr>
            <p:ph type="body"/>
          </p:nvPr>
        </p:nvSpPr>
        <p:spPr>
          <a:xfrm>
            <a:off x="467424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20"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21"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22" name="PlaceHolder 4"/>
          <p:cNvSpPr>
            <a:spLocks noGrp="1"/>
          </p:cNvSpPr>
          <p:nvPr>
            <p:ph type="body"/>
          </p:nvPr>
        </p:nvSpPr>
        <p:spPr>
          <a:xfrm>
            <a:off x="457200" y="2761920"/>
            <a:ext cx="822924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24" name="PlaceHolder 2"/>
          <p:cNvSpPr>
            <a:spLocks noGrp="1"/>
          </p:cNvSpPr>
          <p:nvPr>
            <p:ph type="body"/>
          </p:nvPr>
        </p:nvSpPr>
        <p:spPr>
          <a:xfrm>
            <a:off x="457200" y="1203480"/>
            <a:ext cx="8229240" cy="1422720"/>
          </a:xfrm>
          <a:prstGeom prst="rect">
            <a:avLst/>
          </a:prstGeom>
        </p:spPr>
        <p:txBody>
          <a:bodyPr lIns="0" tIns="0" rIns="0" bIns="0">
            <a:normAutofit/>
          </a:bodyPr>
          <a:lstStyle/>
          <a:p>
            <a:endParaRPr lang="en-US" sz="3200" b="0" strike="noStrike" spc="-1">
              <a:latin typeface="Arial"/>
            </a:endParaRPr>
          </a:p>
        </p:txBody>
      </p:sp>
      <p:sp>
        <p:nvSpPr>
          <p:cNvPr id="25" name="PlaceHolder 3"/>
          <p:cNvSpPr>
            <a:spLocks noGrp="1"/>
          </p:cNvSpPr>
          <p:nvPr>
            <p:ph type="body"/>
          </p:nvPr>
        </p:nvSpPr>
        <p:spPr>
          <a:xfrm>
            <a:off x="457200" y="2761920"/>
            <a:ext cx="822924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27"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28"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29"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US" sz="3200" b="0" strike="noStrike" spc="-1">
              <a:latin typeface="Arial"/>
            </a:endParaRPr>
          </a:p>
        </p:txBody>
      </p:sp>
      <p:sp>
        <p:nvSpPr>
          <p:cNvPr id="30" name="PlaceHolder 5"/>
          <p:cNvSpPr>
            <a:spLocks noGrp="1"/>
          </p:cNvSpPr>
          <p:nvPr>
            <p:ph type="body"/>
          </p:nvPr>
        </p:nvSpPr>
        <p:spPr>
          <a:xfrm>
            <a:off x="467424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32" name="PlaceHolder 2"/>
          <p:cNvSpPr>
            <a:spLocks noGrp="1"/>
          </p:cNvSpPr>
          <p:nvPr>
            <p:ph type="body"/>
          </p:nvPr>
        </p:nvSpPr>
        <p:spPr>
          <a:xfrm>
            <a:off x="457200" y="1203480"/>
            <a:ext cx="2649600" cy="1422720"/>
          </a:xfrm>
          <a:prstGeom prst="rect">
            <a:avLst/>
          </a:prstGeom>
        </p:spPr>
        <p:txBody>
          <a:bodyPr lIns="0" tIns="0" rIns="0" bIns="0">
            <a:normAutofit/>
          </a:bodyPr>
          <a:lstStyle/>
          <a:p>
            <a:endParaRPr lang="en-US" sz="3200" b="0" strike="noStrike" spc="-1">
              <a:latin typeface="Arial"/>
            </a:endParaRPr>
          </a:p>
        </p:txBody>
      </p:sp>
      <p:sp>
        <p:nvSpPr>
          <p:cNvPr id="33" name="PlaceHolder 3"/>
          <p:cNvSpPr>
            <a:spLocks noGrp="1"/>
          </p:cNvSpPr>
          <p:nvPr>
            <p:ph type="body"/>
          </p:nvPr>
        </p:nvSpPr>
        <p:spPr>
          <a:xfrm>
            <a:off x="3239640" y="1203480"/>
            <a:ext cx="2649600" cy="1422720"/>
          </a:xfrm>
          <a:prstGeom prst="rect">
            <a:avLst/>
          </a:prstGeom>
        </p:spPr>
        <p:txBody>
          <a:bodyPr lIns="0" tIns="0" rIns="0" bIns="0">
            <a:normAutofit/>
          </a:bodyPr>
          <a:lstStyle/>
          <a:p>
            <a:endParaRPr lang="en-US" sz="3200" b="0" strike="noStrike" spc="-1">
              <a:latin typeface="Arial"/>
            </a:endParaRPr>
          </a:p>
        </p:txBody>
      </p:sp>
      <p:sp>
        <p:nvSpPr>
          <p:cNvPr id="34" name="PlaceHolder 4"/>
          <p:cNvSpPr>
            <a:spLocks noGrp="1"/>
          </p:cNvSpPr>
          <p:nvPr>
            <p:ph type="body"/>
          </p:nvPr>
        </p:nvSpPr>
        <p:spPr>
          <a:xfrm>
            <a:off x="6022080" y="1203480"/>
            <a:ext cx="2649600" cy="1422720"/>
          </a:xfrm>
          <a:prstGeom prst="rect">
            <a:avLst/>
          </a:prstGeom>
        </p:spPr>
        <p:txBody>
          <a:bodyPr lIns="0" tIns="0" rIns="0" bIns="0">
            <a:normAutofit/>
          </a:bodyPr>
          <a:lstStyle/>
          <a:p>
            <a:endParaRPr lang="en-US" sz="3200" b="0" strike="noStrike" spc="-1">
              <a:latin typeface="Arial"/>
            </a:endParaRPr>
          </a:p>
        </p:txBody>
      </p:sp>
      <p:sp>
        <p:nvSpPr>
          <p:cNvPr id="35" name="PlaceHolder 5"/>
          <p:cNvSpPr>
            <a:spLocks noGrp="1"/>
          </p:cNvSpPr>
          <p:nvPr>
            <p:ph type="body"/>
          </p:nvPr>
        </p:nvSpPr>
        <p:spPr>
          <a:xfrm>
            <a:off x="457200" y="2761920"/>
            <a:ext cx="2649600" cy="1422720"/>
          </a:xfrm>
          <a:prstGeom prst="rect">
            <a:avLst/>
          </a:prstGeom>
        </p:spPr>
        <p:txBody>
          <a:bodyPr lIns="0" tIns="0" rIns="0" bIns="0">
            <a:normAutofit/>
          </a:bodyPr>
          <a:lstStyle/>
          <a:p>
            <a:endParaRPr lang="en-US" sz="3200" b="0" strike="noStrike" spc="-1">
              <a:latin typeface="Arial"/>
            </a:endParaRPr>
          </a:p>
        </p:txBody>
      </p:sp>
      <p:sp>
        <p:nvSpPr>
          <p:cNvPr id="36" name="PlaceHolder 6"/>
          <p:cNvSpPr>
            <a:spLocks noGrp="1"/>
          </p:cNvSpPr>
          <p:nvPr>
            <p:ph type="body"/>
          </p:nvPr>
        </p:nvSpPr>
        <p:spPr>
          <a:xfrm>
            <a:off x="3239640" y="2761920"/>
            <a:ext cx="2649600" cy="1422720"/>
          </a:xfrm>
          <a:prstGeom prst="rect">
            <a:avLst/>
          </a:prstGeom>
        </p:spPr>
        <p:txBody>
          <a:bodyPr lIns="0" tIns="0" rIns="0" bIns="0">
            <a:normAutofit/>
          </a:bodyPr>
          <a:lstStyle/>
          <a:p>
            <a:endParaRPr lang="en-US" sz="3200" b="0" strike="noStrike" spc="-1">
              <a:latin typeface="Arial"/>
            </a:endParaRPr>
          </a:p>
        </p:txBody>
      </p:sp>
      <p:sp>
        <p:nvSpPr>
          <p:cNvPr id="37" name="PlaceHolder 7"/>
          <p:cNvSpPr>
            <a:spLocks noGrp="1"/>
          </p:cNvSpPr>
          <p:nvPr>
            <p:ph type="body"/>
          </p:nvPr>
        </p:nvSpPr>
        <p:spPr>
          <a:xfrm>
            <a:off x="6022080" y="2761920"/>
            <a:ext cx="26496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41" name="PlaceHolder 2"/>
          <p:cNvSpPr>
            <a:spLocks noGrp="1"/>
          </p:cNvSpPr>
          <p:nvPr>
            <p:ph type="subTitle"/>
          </p:nvPr>
        </p:nvSpPr>
        <p:spPr>
          <a:xfrm>
            <a:off x="457200" y="1203480"/>
            <a:ext cx="8229240" cy="29829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43" name="PlaceHolder 2"/>
          <p:cNvSpPr>
            <a:spLocks noGrp="1"/>
          </p:cNvSpPr>
          <p:nvPr>
            <p:ph type="body"/>
          </p:nvPr>
        </p:nvSpPr>
        <p:spPr>
          <a:xfrm>
            <a:off x="457200" y="1203480"/>
            <a:ext cx="8229240" cy="298296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45"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US" sz="3200" b="0" strike="noStrike" spc="-1">
              <a:latin typeface="Arial"/>
            </a:endParaRPr>
          </a:p>
        </p:txBody>
      </p:sp>
      <p:sp>
        <p:nvSpPr>
          <p:cNvPr id="46"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457200" y="205200"/>
            <a:ext cx="8229240" cy="39812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50"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51"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US" sz="3200" b="0" strike="noStrike" spc="-1">
              <a:latin typeface="Arial"/>
            </a:endParaRPr>
          </a:p>
        </p:txBody>
      </p:sp>
      <p:sp>
        <p:nvSpPr>
          <p:cNvPr id="52"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54"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US" sz="3200" b="0" strike="noStrike" spc="-1">
              <a:latin typeface="Arial"/>
            </a:endParaRPr>
          </a:p>
        </p:txBody>
      </p:sp>
      <p:sp>
        <p:nvSpPr>
          <p:cNvPr id="55"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56" name="PlaceHolder 4"/>
          <p:cNvSpPr>
            <a:spLocks noGrp="1"/>
          </p:cNvSpPr>
          <p:nvPr>
            <p:ph type="body"/>
          </p:nvPr>
        </p:nvSpPr>
        <p:spPr>
          <a:xfrm>
            <a:off x="467424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58"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59"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60" name="PlaceHolder 4"/>
          <p:cNvSpPr>
            <a:spLocks noGrp="1"/>
          </p:cNvSpPr>
          <p:nvPr>
            <p:ph type="body"/>
          </p:nvPr>
        </p:nvSpPr>
        <p:spPr>
          <a:xfrm>
            <a:off x="457200" y="2761920"/>
            <a:ext cx="822924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62" name="PlaceHolder 2"/>
          <p:cNvSpPr>
            <a:spLocks noGrp="1"/>
          </p:cNvSpPr>
          <p:nvPr>
            <p:ph type="body"/>
          </p:nvPr>
        </p:nvSpPr>
        <p:spPr>
          <a:xfrm>
            <a:off x="457200" y="1203480"/>
            <a:ext cx="8229240" cy="1422720"/>
          </a:xfrm>
          <a:prstGeom prst="rect">
            <a:avLst/>
          </a:prstGeom>
        </p:spPr>
        <p:txBody>
          <a:bodyPr lIns="0" tIns="0" rIns="0" bIns="0">
            <a:normAutofit/>
          </a:bodyPr>
          <a:lstStyle/>
          <a:p>
            <a:endParaRPr lang="en-US" sz="3200" b="0" strike="noStrike" spc="-1">
              <a:latin typeface="Arial"/>
            </a:endParaRPr>
          </a:p>
        </p:txBody>
      </p:sp>
      <p:sp>
        <p:nvSpPr>
          <p:cNvPr id="63" name="PlaceHolder 3"/>
          <p:cNvSpPr>
            <a:spLocks noGrp="1"/>
          </p:cNvSpPr>
          <p:nvPr>
            <p:ph type="body"/>
          </p:nvPr>
        </p:nvSpPr>
        <p:spPr>
          <a:xfrm>
            <a:off x="457200" y="2761920"/>
            <a:ext cx="822924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65"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66"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67"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US" sz="3200" b="0" strike="noStrike" spc="-1">
              <a:latin typeface="Arial"/>
            </a:endParaRPr>
          </a:p>
        </p:txBody>
      </p:sp>
      <p:sp>
        <p:nvSpPr>
          <p:cNvPr id="68" name="PlaceHolder 5"/>
          <p:cNvSpPr>
            <a:spLocks noGrp="1"/>
          </p:cNvSpPr>
          <p:nvPr>
            <p:ph type="body"/>
          </p:nvPr>
        </p:nvSpPr>
        <p:spPr>
          <a:xfrm>
            <a:off x="467424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70" name="PlaceHolder 2"/>
          <p:cNvSpPr>
            <a:spLocks noGrp="1"/>
          </p:cNvSpPr>
          <p:nvPr>
            <p:ph type="body"/>
          </p:nvPr>
        </p:nvSpPr>
        <p:spPr>
          <a:xfrm>
            <a:off x="457200" y="1203480"/>
            <a:ext cx="2649600" cy="1422720"/>
          </a:xfrm>
          <a:prstGeom prst="rect">
            <a:avLst/>
          </a:prstGeom>
        </p:spPr>
        <p:txBody>
          <a:bodyPr lIns="0" tIns="0" rIns="0" bIns="0">
            <a:normAutofit/>
          </a:bodyPr>
          <a:lstStyle/>
          <a:p>
            <a:endParaRPr lang="en-US" sz="3200" b="0" strike="noStrike" spc="-1">
              <a:latin typeface="Arial"/>
            </a:endParaRPr>
          </a:p>
        </p:txBody>
      </p:sp>
      <p:sp>
        <p:nvSpPr>
          <p:cNvPr id="71" name="PlaceHolder 3"/>
          <p:cNvSpPr>
            <a:spLocks noGrp="1"/>
          </p:cNvSpPr>
          <p:nvPr>
            <p:ph type="body"/>
          </p:nvPr>
        </p:nvSpPr>
        <p:spPr>
          <a:xfrm>
            <a:off x="3239640" y="1203480"/>
            <a:ext cx="2649600" cy="1422720"/>
          </a:xfrm>
          <a:prstGeom prst="rect">
            <a:avLst/>
          </a:prstGeom>
        </p:spPr>
        <p:txBody>
          <a:bodyPr lIns="0" tIns="0" rIns="0" bIns="0">
            <a:normAutofit/>
          </a:bodyPr>
          <a:lstStyle/>
          <a:p>
            <a:endParaRPr lang="en-US" sz="3200" b="0" strike="noStrike" spc="-1">
              <a:latin typeface="Arial"/>
            </a:endParaRPr>
          </a:p>
        </p:txBody>
      </p:sp>
      <p:sp>
        <p:nvSpPr>
          <p:cNvPr id="72" name="PlaceHolder 4"/>
          <p:cNvSpPr>
            <a:spLocks noGrp="1"/>
          </p:cNvSpPr>
          <p:nvPr>
            <p:ph type="body"/>
          </p:nvPr>
        </p:nvSpPr>
        <p:spPr>
          <a:xfrm>
            <a:off x="6022080" y="1203480"/>
            <a:ext cx="2649600" cy="1422720"/>
          </a:xfrm>
          <a:prstGeom prst="rect">
            <a:avLst/>
          </a:prstGeom>
        </p:spPr>
        <p:txBody>
          <a:bodyPr lIns="0" tIns="0" rIns="0" bIns="0">
            <a:normAutofit/>
          </a:bodyPr>
          <a:lstStyle/>
          <a:p>
            <a:endParaRPr lang="en-US" sz="3200" b="0" strike="noStrike" spc="-1">
              <a:latin typeface="Arial"/>
            </a:endParaRPr>
          </a:p>
        </p:txBody>
      </p:sp>
      <p:sp>
        <p:nvSpPr>
          <p:cNvPr id="73" name="PlaceHolder 5"/>
          <p:cNvSpPr>
            <a:spLocks noGrp="1"/>
          </p:cNvSpPr>
          <p:nvPr>
            <p:ph type="body"/>
          </p:nvPr>
        </p:nvSpPr>
        <p:spPr>
          <a:xfrm>
            <a:off x="457200" y="2761920"/>
            <a:ext cx="2649600" cy="1422720"/>
          </a:xfrm>
          <a:prstGeom prst="rect">
            <a:avLst/>
          </a:prstGeom>
        </p:spPr>
        <p:txBody>
          <a:bodyPr lIns="0" tIns="0" rIns="0" bIns="0">
            <a:normAutofit/>
          </a:bodyPr>
          <a:lstStyle/>
          <a:p>
            <a:endParaRPr lang="en-US" sz="3200" b="0" strike="noStrike" spc="-1">
              <a:latin typeface="Arial"/>
            </a:endParaRPr>
          </a:p>
        </p:txBody>
      </p:sp>
      <p:sp>
        <p:nvSpPr>
          <p:cNvPr id="74" name="PlaceHolder 6"/>
          <p:cNvSpPr>
            <a:spLocks noGrp="1"/>
          </p:cNvSpPr>
          <p:nvPr>
            <p:ph type="body"/>
          </p:nvPr>
        </p:nvSpPr>
        <p:spPr>
          <a:xfrm>
            <a:off x="3239640" y="2761920"/>
            <a:ext cx="2649600" cy="1422720"/>
          </a:xfrm>
          <a:prstGeom prst="rect">
            <a:avLst/>
          </a:prstGeom>
        </p:spPr>
        <p:txBody>
          <a:bodyPr lIns="0" tIns="0" rIns="0" bIns="0">
            <a:normAutofit/>
          </a:bodyPr>
          <a:lstStyle/>
          <a:p>
            <a:endParaRPr lang="en-US" sz="3200" b="0" strike="noStrike" spc="-1">
              <a:latin typeface="Arial"/>
            </a:endParaRPr>
          </a:p>
        </p:txBody>
      </p:sp>
      <p:sp>
        <p:nvSpPr>
          <p:cNvPr id="75" name="PlaceHolder 7"/>
          <p:cNvSpPr>
            <a:spLocks noGrp="1"/>
          </p:cNvSpPr>
          <p:nvPr>
            <p:ph type="body"/>
          </p:nvPr>
        </p:nvSpPr>
        <p:spPr>
          <a:xfrm>
            <a:off x="6022080" y="2761920"/>
            <a:ext cx="26496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79" name="PlaceHolder 2"/>
          <p:cNvSpPr>
            <a:spLocks noGrp="1"/>
          </p:cNvSpPr>
          <p:nvPr>
            <p:ph type="subTitle"/>
          </p:nvPr>
        </p:nvSpPr>
        <p:spPr>
          <a:xfrm>
            <a:off x="457200" y="1203480"/>
            <a:ext cx="8229240" cy="29829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81" name="PlaceHolder 2"/>
          <p:cNvSpPr>
            <a:spLocks noGrp="1"/>
          </p:cNvSpPr>
          <p:nvPr>
            <p:ph type="body"/>
          </p:nvPr>
        </p:nvSpPr>
        <p:spPr>
          <a:xfrm>
            <a:off x="457200" y="1203480"/>
            <a:ext cx="8229240" cy="298296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83"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US" sz="3200" b="0" strike="noStrike" spc="-1">
              <a:latin typeface="Arial"/>
            </a:endParaRPr>
          </a:p>
        </p:txBody>
      </p:sp>
      <p:sp>
        <p:nvSpPr>
          <p:cNvPr id="84"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457200" y="205200"/>
            <a:ext cx="8229240" cy="39812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88"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89"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US" sz="3200" b="0" strike="noStrike" spc="-1">
              <a:latin typeface="Arial"/>
            </a:endParaRPr>
          </a:p>
        </p:txBody>
      </p:sp>
      <p:sp>
        <p:nvSpPr>
          <p:cNvPr id="90"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92"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US" sz="3200" b="0" strike="noStrike" spc="-1">
              <a:latin typeface="Arial"/>
            </a:endParaRPr>
          </a:p>
        </p:txBody>
      </p:sp>
      <p:sp>
        <p:nvSpPr>
          <p:cNvPr id="93"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94" name="PlaceHolder 4"/>
          <p:cNvSpPr>
            <a:spLocks noGrp="1"/>
          </p:cNvSpPr>
          <p:nvPr>
            <p:ph type="body"/>
          </p:nvPr>
        </p:nvSpPr>
        <p:spPr>
          <a:xfrm>
            <a:off x="467424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96"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97"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98" name="PlaceHolder 4"/>
          <p:cNvSpPr>
            <a:spLocks noGrp="1"/>
          </p:cNvSpPr>
          <p:nvPr>
            <p:ph type="body"/>
          </p:nvPr>
        </p:nvSpPr>
        <p:spPr>
          <a:xfrm>
            <a:off x="457200" y="2761920"/>
            <a:ext cx="822924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100" name="PlaceHolder 2"/>
          <p:cNvSpPr>
            <a:spLocks noGrp="1"/>
          </p:cNvSpPr>
          <p:nvPr>
            <p:ph type="body"/>
          </p:nvPr>
        </p:nvSpPr>
        <p:spPr>
          <a:xfrm>
            <a:off x="457200" y="1203480"/>
            <a:ext cx="8229240" cy="1422720"/>
          </a:xfrm>
          <a:prstGeom prst="rect">
            <a:avLst/>
          </a:prstGeom>
        </p:spPr>
        <p:txBody>
          <a:bodyPr lIns="0" tIns="0" rIns="0" bIns="0">
            <a:normAutofit/>
          </a:bodyPr>
          <a:lstStyle/>
          <a:p>
            <a:endParaRPr lang="en-US" sz="3200" b="0" strike="noStrike" spc="-1">
              <a:latin typeface="Arial"/>
            </a:endParaRPr>
          </a:p>
        </p:txBody>
      </p:sp>
      <p:sp>
        <p:nvSpPr>
          <p:cNvPr id="101" name="PlaceHolder 3"/>
          <p:cNvSpPr>
            <a:spLocks noGrp="1"/>
          </p:cNvSpPr>
          <p:nvPr>
            <p:ph type="body"/>
          </p:nvPr>
        </p:nvSpPr>
        <p:spPr>
          <a:xfrm>
            <a:off x="457200" y="2761920"/>
            <a:ext cx="822924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103"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104"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105"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US" sz="3200" b="0" strike="noStrike" spc="-1">
              <a:latin typeface="Arial"/>
            </a:endParaRPr>
          </a:p>
        </p:txBody>
      </p:sp>
      <p:sp>
        <p:nvSpPr>
          <p:cNvPr id="106" name="PlaceHolder 5"/>
          <p:cNvSpPr>
            <a:spLocks noGrp="1"/>
          </p:cNvSpPr>
          <p:nvPr>
            <p:ph type="body"/>
          </p:nvPr>
        </p:nvSpPr>
        <p:spPr>
          <a:xfrm>
            <a:off x="467424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108" name="PlaceHolder 2"/>
          <p:cNvSpPr>
            <a:spLocks noGrp="1"/>
          </p:cNvSpPr>
          <p:nvPr>
            <p:ph type="body"/>
          </p:nvPr>
        </p:nvSpPr>
        <p:spPr>
          <a:xfrm>
            <a:off x="457200" y="1203480"/>
            <a:ext cx="2649600" cy="1422720"/>
          </a:xfrm>
          <a:prstGeom prst="rect">
            <a:avLst/>
          </a:prstGeom>
        </p:spPr>
        <p:txBody>
          <a:bodyPr lIns="0" tIns="0" rIns="0" bIns="0">
            <a:normAutofit/>
          </a:bodyPr>
          <a:lstStyle/>
          <a:p>
            <a:endParaRPr lang="en-US" sz="3200" b="0" strike="noStrike" spc="-1">
              <a:latin typeface="Arial"/>
            </a:endParaRPr>
          </a:p>
        </p:txBody>
      </p:sp>
      <p:sp>
        <p:nvSpPr>
          <p:cNvPr id="109" name="PlaceHolder 3"/>
          <p:cNvSpPr>
            <a:spLocks noGrp="1"/>
          </p:cNvSpPr>
          <p:nvPr>
            <p:ph type="body"/>
          </p:nvPr>
        </p:nvSpPr>
        <p:spPr>
          <a:xfrm>
            <a:off x="3239640" y="1203480"/>
            <a:ext cx="2649600" cy="1422720"/>
          </a:xfrm>
          <a:prstGeom prst="rect">
            <a:avLst/>
          </a:prstGeom>
        </p:spPr>
        <p:txBody>
          <a:bodyPr lIns="0" tIns="0" rIns="0" bIns="0">
            <a:normAutofit/>
          </a:bodyPr>
          <a:lstStyle/>
          <a:p>
            <a:endParaRPr lang="en-US" sz="3200" b="0" strike="noStrike" spc="-1">
              <a:latin typeface="Arial"/>
            </a:endParaRPr>
          </a:p>
        </p:txBody>
      </p:sp>
      <p:sp>
        <p:nvSpPr>
          <p:cNvPr id="110" name="PlaceHolder 4"/>
          <p:cNvSpPr>
            <a:spLocks noGrp="1"/>
          </p:cNvSpPr>
          <p:nvPr>
            <p:ph type="body"/>
          </p:nvPr>
        </p:nvSpPr>
        <p:spPr>
          <a:xfrm>
            <a:off x="6022080" y="1203480"/>
            <a:ext cx="2649600" cy="1422720"/>
          </a:xfrm>
          <a:prstGeom prst="rect">
            <a:avLst/>
          </a:prstGeom>
        </p:spPr>
        <p:txBody>
          <a:bodyPr lIns="0" tIns="0" rIns="0" bIns="0">
            <a:normAutofit/>
          </a:bodyPr>
          <a:lstStyle/>
          <a:p>
            <a:endParaRPr lang="en-US" sz="3200" b="0" strike="noStrike" spc="-1">
              <a:latin typeface="Arial"/>
            </a:endParaRPr>
          </a:p>
        </p:txBody>
      </p:sp>
      <p:sp>
        <p:nvSpPr>
          <p:cNvPr id="111" name="PlaceHolder 5"/>
          <p:cNvSpPr>
            <a:spLocks noGrp="1"/>
          </p:cNvSpPr>
          <p:nvPr>
            <p:ph type="body"/>
          </p:nvPr>
        </p:nvSpPr>
        <p:spPr>
          <a:xfrm>
            <a:off x="457200" y="2761920"/>
            <a:ext cx="2649600" cy="1422720"/>
          </a:xfrm>
          <a:prstGeom prst="rect">
            <a:avLst/>
          </a:prstGeom>
        </p:spPr>
        <p:txBody>
          <a:bodyPr lIns="0" tIns="0" rIns="0" bIns="0">
            <a:normAutofit/>
          </a:bodyPr>
          <a:lstStyle/>
          <a:p>
            <a:endParaRPr lang="en-US" sz="3200" b="0" strike="noStrike" spc="-1">
              <a:latin typeface="Arial"/>
            </a:endParaRPr>
          </a:p>
        </p:txBody>
      </p:sp>
      <p:sp>
        <p:nvSpPr>
          <p:cNvPr id="112" name="PlaceHolder 6"/>
          <p:cNvSpPr>
            <a:spLocks noGrp="1"/>
          </p:cNvSpPr>
          <p:nvPr>
            <p:ph type="body"/>
          </p:nvPr>
        </p:nvSpPr>
        <p:spPr>
          <a:xfrm>
            <a:off x="3239640" y="2761920"/>
            <a:ext cx="2649600" cy="1422720"/>
          </a:xfrm>
          <a:prstGeom prst="rect">
            <a:avLst/>
          </a:prstGeom>
        </p:spPr>
        <p:txBody>
          <a:bodyPr lIns="0" tIns="0" rIns="0" bIns="0">
            <a:normAutofit/>
          </a:bodyPr>
          <a:lstStyle/>
          <a:p>
            <a:endParaRPr lang="en-US" sz="3200" b="0" strike="noStrike" spc="-1">
              <a:latin typeface="Arial"/>
            </a:endParaRPr>
          </a:p>
        </p:txBody>
      </p:sp>
      <p:sp>
        <p:nvSpPr>
          <p:cNvPr id="113" name="PlaceHolder 7"/>
          <p:cNvSpPr>
            <a:spLocks noGrp="1"/>
          </p:cNvSpPr>
          <p:nvPr>
            <p:ph type="body"/>
          </p:nvPr>
        </p:nvSpPr>
        <p:spPr>
          <a:xfrm>
            <a:off x="6022080" y="2761920"/>
            <a:ext cx="26496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8880" cy="858240"/>
          </a:xfrm>
          <a:prstGeom prst="rect">
            <a:avLst/>
          </a:prstGeom>
        </p:spPr>
        <p:txBody>
          <a:bodyPr lIns="0" tIns="0" rIns="0" bIns="0" anchor="ctr"/>
          <a:lstStyle/>
          <a:p>
            <a:r>
              <a:rPr lang="en-US" sz="1800" b="0" strike="noStrike" spc="-1">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05200"/>
            <a:ext cx="8229240" cy="858600"/>
          </a:xfrm>
          <a:prstGeom prst="rect">
            <a:avLst/>
          </a:prstGeom>
        </p:spPr>
        <p:txBody>
          <a:bodyPr lIns="0" tIns="0" rIns="0" bIns="0" anchor="ctr"/>
          <a:lstStyle/>
          <a:p>
            <a:pPr algn="ctr"/>
            <a:r>
              <a:rPr lang="en-US" sz="4400" b="0" strike="noStrike" spc="-1">
                <a:latin typeface="Arial"/>
              </a:rPr>
              <a:t>Click to edit the title text format</a:t>
            </a:r>
          </a:p>
        </p:txBody>
      </p:sp>
      <p:sp>
        <p:nvSpPr>
          <p:cNvPr id="39" name="PlaceHolder 2"/>
          <p:cNvSpPr>
            <a:spLocks noGrp="1"/>
          </p:cNvSpPr>
          <p:nvPr>
            <p:ph type="body"/>
          </p:nvPr>
        </p:nvSpPr>
        <p:spPr>
          <a:xfrm>
            <a:off x="457200" y="1203480"/>
            <a:ext cx="8229240" cy="298296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05200"/>
            <a:ext cx="8229240" cy="858600"/>
          </a:xfrm>
          <a:prstGeom prst="rect">
            <a:avLst/>
          </a:prstGeom>
        </p:spPr>
        <p:txBody>
          <a:bodyPr lIns="0" tIns="0" rIns="0" bIns="0" anchor="ctr"/>
          <a:lstStyle/>
          <a:p>
            <a:pPr algn="ctr"/>
            <a:r>
              <a:rPr lang="en-US" sz="4400" b="0" strike="noStrike" spc="-1">
                <a:latin typeface="Arial"/>
              </a:rPr>
              <a:t>Click to edit the title text format</a:t>
            </a:r>
          </a:p>
        </p:txBody>
      </p:sp>
      <p:sp>
        <p:nvSpPr>
          <p:cNvPr id="77" name="PlaceHolder 2"/>
          <p:cNvSpPr>
            <a:spLocks noGrp="1"/>
          </p:cNvSpPr>
          <p:nvPr>
            <p:ph type="body"/>
          </p:nvPr>
        </p:nvSpPr>
        <p:spPr>
          <a:xfrm>
            <a:off x="457200" y="1203480"/>
            <a:ext cx="8229240" cy="298296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CustomShape 1"/>
          <p:cNvSpPr/>
          <p:nvPr/>
        </p:nvSpPr>
        <p:spPr>
          <a:xfrm>
            <a:off x="311760" y="744480"/>
            <a:ext cx="8519760" cy="205200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nchor="b"/>
          <a:lstStyle/>
          <a:p>
            <a:pPr algn="ctr">
              <a:lnSpc>
                <a:spcPct val="100000"/>
              </a:lnSpc>
            </a:pPr>
            <a:r>
              <a:rPr lang="en-US" sz="5200" b="0" strike="noStrike" spc="-1" dirty="0">
                <a:solidFill>
                  <a:srgbClr val="000000"/>
                </a:solidFill>
                <a:latin typeface="Arial"/>
                <a:ea typeface="Arial"/>
              </a:rPr>
              <a:t>Assignment 3 (NLP) Writeup</a:t>
            </a:r>
            <a:br>
              <a:rPr dirty="0"/>
            </a:br>
            <a:r>
              <a:rPr lang="en-US" sz="2400" b="1" strike="noStrike" spc="-1" dirty="0">
                <a:solidFill>
                  <a:srgbClr val="FF0000"/>
                </a:solidFill>
                <a:latin typeface="Arial"/>
                <a:ea typeface="Arial"/>
              </a:rPr>
              <a:t>DO NOT TAG</a:t>
            </a:r>
            <a:endParaRPr lang="en-US" sz="2400" b="0" strike="noStrike" spc="-1" dirty="0">
              <a:latin typeface="Arial"/>
            </a:endParaRPr>
          </a:p>
        </p:txBody>
      </p:sp>
      <p:sp>
        <p:nvSpPr>
          <p:cNvPr id="115" name="CustomShape 2"/>
          <p:cNvSpPr/>
          <p:nvPr/>
        </p:nvSpPr>
        <p:spPr>
          <a:xfrm>
            <a:off x="311760" y="2834280"/>
            <a:ext cx="8519760" cy="79200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normAutofit/>
          </a:bodyPr>
          <a:lstStyle/>
          <a:p>
            <a:pPr algn="ctr">
              <a:lnSpc>
                <a:spcPct val="100000"/>
              </a:lnSpc>
            </a:pPr>
            <a:r>
              <a:rPr lang="en-US" sz="1490" b="0" strike="noStrike" spc="-1" dirty="0">
                <a:solidFill>
                  <a:srgbClr val="595959"/>
                </a:solidFill>
                <a:latin typeface="Arial"/>
                <a:ea typeface="Arial"/>
              </a:rPr>
              <a:t>Name: Danbo Chen</a:t>
            </a:r>
            <a:endParaRPr lang="en-US" sz="1490" b="0" strike="noStrike" spc="-1" dirty="0">
              <a:latin typeface="Arial"/>
            </a:endParaRPr>
          </a:p>
          <a:p>
            <a:pPr algn="ctr">
              <a:lnSpc>
                <a:spcPct val="100000"/>
              </a:lnSpc>
            </a:pPr>
            <a:r>
              <a:rPr lang="en-US" sz="1490" b="0" strike="noStrike" spc="-1" dirty="0">
                <a:solidFill>
                  <a:srgbClr val="595959"/>
                </a:solidFill>
                <a:latin typeface="Arial"/>
                <a:ea typeface="Arial"/>
              </a:rPr>
              <a:t>GT Email:dchen497@gatech.edu</a:t>
            </a:r>
            <a:endParaRPr lang="en-US" sz="1490" b="0" strike="noStrike" spc="-1" dirty="0">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505D9B4-1C28-C8EC-3767-05D81AD000EC}"/>
              </a:ext>
            </a:extLst>
          </p:cNvPr>
          <p:cNvSpPr>
            <a:spLocks noGrp="1"/>
          </p:cNvSpPr>
          <p:nvPr>
            <p:ph type="title"/>
          </p:nvPr>
        </p:nvSpPr>
        <p:spPr>
          <a:xfrm>
            <a:off x="457200" y="9994"/>
            <a:ext cx="8229240" cy="858600"/>
          </a:xfrm>
        </p:spPr>
        <p:txBody>
          <a:bodyPr/>
          <a:lstStyle/>
          <a:p>
            <a:r>
              <a:rPr lang="en-US" sz="2000" b="1" dirty="0">
                <a:solidFill>
                  <a:schemeClr val="accent1"/>
                </a:solidFill>
              </a:rPr>
              <a:t>Seq2Seq Results – Default configuration</a:t>
            </a:r>
            <a:br>
              <a:rPr lang="en-US" sz="2000" b="1" dirty="0">
                <a:solidFill>
                  <a:schemeClr val="accent1"/>
                </a:solidFill>
              </a:rPr>
            </a:br>
            <a:r>
              <a:rPr lang="en-US" sz="1600" b="1" dirty="0">
                <a:solidFill>
                  <a:schemeClr val="accent1"/>
                </a:solidFill>
              </a:rPr>
              <a:t>Values are for last epoch</a:t>
            </a:r>
          </a:p>
        </p:txBody>
      </p:sp>
      <p:grpSp>
        <p:nvGrpSpPr>
          <p:cNvPr id="16" name="Group 15">
            <a:extLst>
              <a:ext uri="{FF2B5EF4-FFF2-40B4-BE49-F238E27FC236}">
                <a16:creationId xmlns:a16="http://schemas.microsoft.com/office/drawing/2014/main" id="{327EA207-EC35-E972-48D2-09A65F042B85}"/>
              </a:ext>
            </a:extLst>
          </p:cNvPr>
          <p:cNvGrpSpPr/>
          <p:nvPr/>
        </p:nvGrpSpPr>
        <p:grpSpPr>
          <a:xfrm>
            <a:off x="380144" y="954088"/>
            <a:ext cx="7823826" cy="1606850"/>
            <a:chOff x="390418" y="1036280"/>
            <a:chExt cx="7823826" cy="1606850"/>
          </a:xfrm>
        </p:grpSpPr>
        <p:sp>
          <p:nvSpPr>
            <p:cNvPr id="12" name="TextBox 11">
              <a:extLst>
                <a:ext uri="{FF2B5EF4-FFF2-40B4-BE49-F238E27FC236}">
                  <a16:creationId xmlns:a16="http://schemas.microsoft.com/office/drawing/2014/main" id="{67B8C98F-AEAC-8BC0-8E13-1C59FE48BF95}"/>
                </a:ext>
              </a:extLst>
            </p:cNvPr>
            <p:cNvSpPr txBox="1"/>
            <p:nvPr/>
          </p:nvSpPr>
          <p:spPr>
            <a:xfrm>
              <a:off x="390418" y="1036280"/>
              <a:ext cx="3320319" cy="1606850"/>
            </a:xfrm>
            <a:prstGeom prst="rect">
              <a:avLst/>
            </a:prstGeom>
            <a:noFill/>
          </p:spPr>
          <p:txBody>
            <a:bodyPr wrap="square" rtlCol="0">
              <a:spAutoFit/>
            </a:bodyPr>
            <a:lstStyle/>
            <a:p>
              <a:pPr algn="ctr">
                <a:lnSpc>
                  <a:spcPts val="2400"/>
                </a:lnSpc>
              </a:pPr>
              <a:r>
                <a:rPr lang="en-US" dirty="0">
                  <a:solidFill>
                    <a:srgbClr val="0070C0"/>
                  </a:solidFill>
                </a:rPr>
                <a:t>RNN</a:t>
              </a:r>
            </a:p>
            <a:p>
              <a:pPr>
                <a:lnSpc>
                  <a:spcPts val="2400"/>
                </a:lnSpc>
              </a:pPr>
              <a:r>
                <a:rPr lang="en-US" dirty="0"/>
                <a:t>Training Loss: 4.6139</a:t>
              </a:r>
            </a:p>
            <a:p>
              <a:pPr>
                <a:lnSpc>
                  <a:spcPts val="2400"/>
                </a:lnSpc>
              </a:pPr>
              <a:r>
                <a:rPr lang="en-US" dirty="0"/>
                <a:t>Training Perplexity: 100.8779</a:t>
              </a:r>
            </a:p>
            <a:p>
              <a:pPr>
                <a:lnSpc>
                  <a:spcPts val="2400"/>
                </a:lnSpc>
              </a:pPr>
              <a:r>
                <a:rPr lang="en-US" dirty="0"/>
                <a:t>Validation Loss: 4.6959</a:t>
              </a:r>
            </a:p>
            <a:p>
              <a:pPr>
                <a:lnSpc>
                  <a:spcPts val="2400"/>
                </a:lnSpc>
              </a:pPr>
              <a:r>
                <a:rPr lang="en-US" dirty="0"/>
                <a:t>Validation Perplexity: 109.5020</a:t>
              </a:r>
            </a:p>
          </p:txBody>
        </p:sp>
        <p:sp>
          <p:nvSpPr>
            <p:cNvPr id="13" name="TextBox 12">
              <a:extLst>
                <a:ext uri="{FF2B5EF4-FFF2-40B4-BE49-F238E27FC236}">
                  <a16:creationId xmlns:a16="http://schemas.microsoft.com/office/drawing/2014/main" id="{B48C824F-5283-60BB-A126-AC1CA44235B2}"/>
                </a:ext>
              </a:extLst>
            </p:cNvPr>
            <p:cNvSpPr txBox="1"/>
            <p:nvPr/>
          </p:nvSpPr>
          <p:spPr>
            <a:xfrm>
              <a:off x="4893925" y="1036280"/>
              <a:ext cx="3320319" cy="1606850"/>
            </a:xfrm>
            <a:prstGeom prst="rect">
              <a:avLst/>
            </a:prstGeom>
            <a:noFill/>
          </p:spPr>
          <p:txBody>
            <a:bodyPr wrap="square" rtlCol="0">
              <a:spAutoFit/>
            </a:bodyPr>
            <a:lstStyle/>
            <a:p>
              <a:pPr algn="ctr">
                <a:lnSpc>
                  <a:spcPts val="2400"/>
                </a:lnSpc>
              </a:pPr>
              <a:r>
                <a:rPr lang="en-US" dirty="0">
                  <a:solidFill>
                    <a:srgbClr val="0070C0"/>
                  </a:solidFill>
                </a:rPr>
                <a:t>LSTM</a:t>
              </a:r>
            </a:p>
            <a:p>
              <a:pPr>
                <a:lnSpc>
                  <a:spcPts val="2400"/>
                </a:lnSpc>
              </a:pPr>
              <a:r>
                <a:rPr lang="en-US" dirty="0"/>
                <a:t>Training Loss: 3.1755</a:t>
              </a:r>
            </a:p>
            <a:p>
              <a:pPr>
                <a:lnSpc>
                  <a:spcPts val="2400"/>
                </a:lnSpc>
              </a:pPr>
              <a:r>
                <a:rPr lang="en-US" dirty="0"/>
                <a:t>Training Perplexity:23.9392</a:t>
              </a:r>
            </a:p>
            <a:p>
              <a:pPr>
                <a:lnSpc>
                  <a:spcPts val="2400"/>
                </a:lnSpc>
              </a:pPr>
              <a:r>
                <a:rPr lang="en-US" dirty="0"/>
                <a:t>Validation Loss: 3.3385</a:t>
              </a:r>
            </a:p>
            <a:p>
              <a:pPr>
                <a:lnSpc>
                  <a:spcPts val="2400"/>
                </a:lnSpc>
              </a:pPr>
              <a:r>
                <a:rPr lang="en-US" dirty="0"/>
                <a:t>Validation Perplexity: 28.1773</a:t>
              </a:r>
            </a:p>
          </p:txBody>
        </p:sp>
      </p:grpSp>
      <p:grpSp>
        <p:nvGrpSpPr>
          <p:cNvPr id="20" name="Group 19">
            <a:extLst>
              <a:ext uri="{FF2B5EF4-FFF2-40B4-BE49-F238E27FC236}">
                <a16:creationId xmlns:a16="http://schemas.microsoft.com/office/drawing/2014/main" id="{42277F97-0B46-55B9-1978-53A8700943CA}"/>
              </a:ext>
            </a:extLst>
          </p:cNvPr>
          <p:cNvGrpSpPr/>
          <p:nvPr/>
        </p:nvGrpSpPr>
        <p:grpSpPr>
          <a:xfrm>
            <a:off x="380144" y="3058578"/>
            <a:ext cx="7575480" cy="1914627"/>
            <a:chOff x="390418" y="1036280"/>
            <a:chExt cx="7575480" cy="1914627"/>
          </a:xfrm>
        </p:grpSpPr>
        <p:sp>
          <p:nvSpPr>
            <p:cNvPr id="21" name="TextBox 20">
              <a:extLst>
                <a:ext uri="{FF2B5EF4-FFF2-40B4-BE49-F238E27FC236}">
                  <a16:creationId xmlns:a16="http://schemas.microsoft.com/office/drawing/2014/main" id="{8FD89530-4810-B9EA-289E-1950DB5618C1}"/>
                </a:ext>
              </a:extLst>
            </p:cNvPr>
            <p:cNvSpPr txBox="1"/>
            <p:nvPr/>
          </p:nvSpPr>
          <p:spPr>
            <a:xfrm>
              <a:off x="390418" y="1036280"/>
              <a:ext cx="3320318" cy="1606850"/>
            </a:xfrm>
            <a:prstGeom prst="rect">
              <a:avLst/>
            </a:prstGeom>
            <a:noFill/>
          </p:spPr>
          <p:txBody>
            <a:bodyPr wrap="square" rtlCol="0">
              <a:spAutoFit/>
            </a:bodyPr>
            <a:lstStyle/>
            <a:p>
              <a:pPr algn="ctr">
                <a:lnSpc>
                  <a:spcPts val="2400"/>
                </a:lnSpc>
              </a:pPr>
              <a:r>
                <a:rPr lang="en-US" dirty="0">
                  <a:solidFill>
                    <a:srgbClr val="0070C0"/>
                  </a:solidFill>
                </a:rPr>
                <a:t>RNN-with-Attention</a:t>
              </a:r>
            </a:p>
            <a:p>
              <a:pPr>
                <a:lnSpc>
                  <a:spcPts val="2400"/>
                </a:lnSpc>
              </a:pPr>
              <a:r>
                <a:rPr lang="en-US" dirty="0"/>
                <a:t>Training Loss: 3.2857</a:t>
              </a:r>
            </a:p>
            <a:p>
              <a:pPr>
                <a:lnSpc>
                  <a:spcPts val="2400"/>
                </a:lnSpc>
              </a:pPr>
              <a:r>
                <a:rPr lang="en-US" dirty="0"/>
                <a:t>Training Perplexity: 26.7286</a:t>
              </a:r>
            </a:p>
            <a:p>
              <a:pPr>
                <a:lnSpc>
                  <a:spcPts val="2400"/>
                </a:lnSpc>
              </a:pPr>
              <a:r>
                <a:rPr lang="en-US" dirty="0"/>
                <a:t>Validation Loss: 3.4203</a:t>
              </a:r>
            </a:p>
            <a:p>
              <a:pPr>
                <a:lnSpc>
                  <a:spcPts val="2400"/>
                </a:lnSpc>
              </a:pPr>
              <a:r>
                <a:rPr lang="en-US" dirty="0"/>
                <a:t>Validation Perplexity: 30.5791</a:t>
              </a:r>
            </a:p>
          </p:txBody>
        </p:sp>
        <p:sp>
          <p:nvSpPr>
            <p:cNvPr id="22" name="TextBox 21">
              <a:extLst>
                <a:ext uri="{FF2B5EF4-FFF2-40B4-BE49-F238E27FC236}">
                  <a16:creationId xmlns:a16="http://schemas.microsoft.com/office/drawing/2014/main" id="{01B11F87-184B-166C-A8AD-A2C6A9A8678A}"/>
                </a:ext>
              </a:extLst>
            </p:cNvPr>
            <p:cNvSpPr txBox="1"/>
            <p:nvPr/>
          </p:nvSpPr>
          <p:spPr>
            <a:xfrm>
              <a:off x="4893925" y="1036280"/>
              <a:ext cx="3071973" cy="1914627"/>
            </a:xfrm>
            <a:prstGeom prst="rect">
              <a:avLst/>
            </a:prstGeom>
            <a:noFill/>
          </p:spPr>
          <p:txBody>
            <a:bodyPr wrap="square" rtlCol="0">
              <a:spAutoFit/>
            </a:bodyPr>
            <a:lstStyle/>
            <a:p>
              <a:pPr algn="ctr">
                <a:lnSpc>
                  <a:spcPts val="2400"/>
                </a:lnSpc>
              </a:pPr>
              <a:r>
                <a:rPr lang="en-US" dirty="0">
                  <a:solidFill>
                    <a:srgbClr val="0070C0"/>
                  </a:solidFill>
                </a:rPr>
                <a:t>LSTM-with-Attention</a:t>
              </a:r>
            </a:p>
            <a:p>
              <a:pPr>
                <a:lnSpc>
                  <a:spcPts val="2400"/>
                </a:lnSpc>
              </a:pPr>
              <a:r>
                <a:rPr lang="en-US" dirty="0"/>
                <a:t>Training Loss: 3.1065</a:t>
              </a:r>
            </a:p>
            <a:p>
              <a:pPr>
                <a:lnSpc>
                  <a:spcPts val="2400"/>
                </a:lnSpc>
              </a:pPr>
              <a:r>
                <a:rPr lang="en-US" dirty="0"/>
                <a:t>Training Perplexity: 22.2986</a:t>
              </a:r>
            </a:p>
            <a:p>
              <a:pPr>
                <a:lnSpc>
                  <a:spcPts val="2400"/>
                </a:lnSpc>
              </a:pPr>
              <a:r>
                <a:rPr lang="en-US" dirty="0"/>
                <a:t>Validation Loss: 3.3198</a:t>
              </a:r>
            </a:p>
            <a:p>
              <a:pPr>
                <a:lnSpc>
                  <a:spcPts val="2400"/>
                </a:lnSpc>
              </a:pPr>
              <a:r>
                <a:rPr lang="en-US" dirty="0"/>
                <a:t>Validation Perplexity: 27.6549</a:t>
              </a:r>
            </a:p>
          </p:txBody>
        </p:sp>
      </p:grpSp>
    </p:spTree>
    <p:extLst>
      <p:ext uri="{BB962C8B-B14F-4D97-AF65-F5344CB8AC3E}">
        <p14:creationId xmlns:p14="http://schemas.microsoft.com/office/powerpoint/2010/main" val="891236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CustomShape 1"/>
          <p:cNvSpPr/>
          <p:nvPr/>
        </p:nvSpPr>
        <p:spPr>
          <a:xfrm>
            <a:off x="312120" y="18138"/>
            <a:ext cx="8517960" cy="57024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lstStyle/>
          <a:p>
            <a:pPr>
              <a:lnSpc>
                <a:spcPct val="100000"/>
              </a:lnSpc>
            </a:pPr>
            <a:r>
              <a:rPr lang="en-US" sz="2000" b="1" strike="noStrike" spc="-1" dirty="0">
                <a:solidFill>
                  <a:srgbClr val="0070C0"/>
                </a:solidFill>
                <a:latin typeface="Arial"/>
                <a:ea typeface="Arial"/>
              </a:rPr>
              <a:t>Seq2Seq Explanation (RNN vs LSTM) </a:t>
            </a:r>
            <a:endParaRPr lang="en-US" sz="2000" b="1" strike="noStrike" spc="-1" dirty="0">
              <a:solidFill>
                <a:srgbClr val="0070C0"/>
              </a:solidFill>
              <a:latin typeface="Arial"/>
            </a:endParaRPr>
          </a:p>
        </p:txBody>
      </p:sp>
      <p:sp>
        <p:nvSpPr>
          <p:cNvPr id="123" name="CustomShape 2"/>
          <p:cNvSpPr/>
          <p:nvPr/>
        </p:nvSpPr>
        <p:spPr>
          <a:xfrm>
            <a:off x="344160" y="482204"/>
            <a:ext cx="7277400" cy="600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200" b="0" strike="noStrike" spc="-1" dirty="0">
                <a:solidFill>
                  <a:srgbClr val="595959"/>
                </a:solidFill>
                <a:latin typeface="Arial"/>
                <a:ea typeface="Arial"/>
              </a:rPr>
              <a:t>Compare your RNN result to your LSTM result and explain why they differ.</a:t>
            </a:r>
            <a:endParaRPr lang="en-US" sz="1200" b="0" strike="noStrike" spc="-1" dirty="0">
              <a:latin typeface="Arial"/>
            </a:endParaRPr>
          </a:p>
        </p:txBody>
      </p:sp>
      <p:sp>
        <p:nvSpPr>
          <p:cNvPr id="3" name="TextBox 2">
            <a:extLst>
              <a:ext uri="{FF2B5EF4-FFF2-40B4-BE49-F238E27FC236}">
                <a16:creationId xmlns:a16="http://schemas.microsoft.com/office/drawing/2014/main" id="{52F30A7D-16EE-B4E6-B496-ADF9225FC546}"/>
              </a:ext>
            </a:extLst>
          </p:cNvPr>
          <p:cNvSpPr txBox="1"/>
          <p:nvPr/>
        </p:nvSpPr>
        <p:spPr>
          <a:xfrm>
            <a:off x="344160" y="885645"/>
            <a:ext cx="8517960" cy="3600986"/>
          </a:xfrm>
          <a:prstGeom prst="rect">
            <a:avLst/>
          </a:prstGeom>
          <a:noFill/>
        </p:spPr>
        <p:txBody>
          <a:bodyPr wrap="square" rtlCol="0">
            <a:spAutoFit/>
          </a:bodyPr>
          <a:lstStyle/>
          <a:p>
            <a:r>
              <a:rPr lang="en-US" sz="1200" dirty="0"/>
              <a:t>Comparing the results, I find following differences and show the main explanations:</a:t>
            </a:r>
          </a:p>
          <a:p>
            <a:endParaRPr lang="en-US" sz="1200" dirty="0"/>
          </a:p>
          <a:p>
            <a:pPr marL="228600" indent="-228600">
              <a:buAutoNum type="arabicParenBoth"/>
            </a:pPr>
            <a:r>
              <a:rPr lang="en-US" sz="1200" dirty="0"/>
              <a:t>the LSTM-based Seq2Seq model performs significantly better than the vanilla RNN model. The RNN model achieves a training perplexity of about </a:t>
            </a:r>
            <a:r>
              <a:rPr lang="en-US" sz="1200" b="1" dirty="0"/>
              <a:t>100.88</a:t>
            </a:r>
            <a:r>
              <a:rPr lang="en-US" sz="1200" dirty="0"/>
              <a:t> and a validation perplexity of </a:t>
            </a:r>
            <a:r>
              <a:rPr lang="en-US" sz="1200" b="1" dirty="0"/>
              <a:t>109.50</a:t>
            </a:r>
            <a:r>
              <a:rPr lang="en-US" sz="1200" dirty="0"/>
              <a:t>, while the LSTM model reduces the training perplexity to </a:t>
            </a:r>
            <a:r>
              <a:rPr lang="en-US" sz="1200" b="1" dirty="0"/>
              <a:t>23.94</a:t>
            </a:r>
            <a:r>
              <a:rPr lang="en-US" sz="1200" dirty="0"/>
              <a:t> and the validation perplexity to </a:t>
            </a:r>
            <a:r>
              <a:rPr lang="en-US" sz="1200" b="1" dirty="0"/>
              <a:t>28.18</a:t>
            </a:r>
            <a:r>
              <a:rPr lang="en-US" sz="1200" dirty="0"/>
              <a:t>.</a:t>
            </a:r>
          </a:p>
          <a:p>
            <a:r>
              <a:rPr lang="en-US" sz="1200" dirty="0"/>
              <a:t>     </a:t>
            </a:r>
          </a:p>
          <a:p>
            <a:r>
              <a:rPr lang="en-US" sz="1200" dirty="0"/>
              <a:t>(2) </a:t>
            </a:r>
            <a:r>
              <a:rPr lang="en-US" sz="1200" b="1" u="sng" dirty="0"/>
              <a:t>Main Explanations</a:t>
            </a:r>
            <a:r>
              <a:rPr lang="en-US" sz="1200" dirty="0"/>
              <a:t>: This large performance gap is mainly due to the architectural differences between RNN and LSTM.</a:t>
            </a:r>
          </a:p>
          <a:p>
            <a:endParaRPr lang="en-US" sz="1200" dirty="0"/>
          </a:p>
          <a:p>
            <a:pPr marL="171450" indent="-171450">
              <a:buFont typeface="Wingdings" panose="05000000000000000000" pitchFamily="2" charset="2"/>
              <a:buChar char="Ø"/>
            </a:pPr>
            <a:r>
              <a:rPr lang="en-US" sz="1200" dirty="0"/>
              <a:t>A standard RNN suffers from the vanishing gradient problem, which makes it difficult for the network to capture long-range dependencies in sequences. During backpropagation through time, gradients can shrink exponentially, preventing the model from learning relationships between tokens that are far apart in the sequence. In a Seq2Seq translation task, this limitation is critical because the encoder must summarize the entire input sentence into hidden representations that the decoder uses to generate translations.</a:t>
            </a:r>
          </a:p>
          <a:p>
            <a:endParaRPr lang="en-US" sz="1200" dirty="0"/>
          </a:p>
          <a:p>
            <a:pPr marL="171450" indent="-171450">
              <a:buFont typeface="Wingdings" panose="05000000000000000000" pitchFamily="2" charset="2"/>
              <a:buChar char="Ø"/>
            </a:pPr>
            <a:r>
              <a:rPr lang="en-US" sz="1200" dirty="0"/>
              <a:t>LSTM networks address this issue by introducing a </a:t>
            </a:r>
            <a:r>
              <a:rPr lang="en-US" sz="1200" b="1" dirty="0"/>
              <a:t>memory cell and gating mechanisms</a:t>
            </a:r>
            <a:r>
              <a:rPr lang="en-US" sz="1200" dirty="0"/>
              <a:t> (input gate, forget gate, and output gate). These gates regulate the flow of information through the network and allow the model to preserve important context over longer time spans. LSTM networks address this issue by introducing a memory cell and gating mechanisms (input gate, forget gate, and output gate). These gates regulate the flow of information through the network and allow the model to preserve important context over longer time spans.</a:t>
            </a: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CustomShape 1"/>
          <p:cNvSpPr/>
          <p:nvPr/>
        </p:nvSpPr>
        <p:spPr>
          <a:xfrm>
            <a:off x="287676" y="18138"/>
            <a:ext cx="8542404" cy="57024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lstStyle/>
          <a:p>
            <a:pPr>
              <a:lnSpc>
                <a:spcPct val="100000"/>
              </a:lnSpc>
            </a:pPr>
            <a:r>
              <a:rPr lang="en-US" sz="2000" b="1" strike="noStrike" spc="-1" dirty="0">
                <a:solidFill>
                  <a:srgbClr val="0070C0"/>
                </a:solidFill>
                <a:latin typeface="Arial"/>
                <a:ea typeface="Arial"/>
              </a:rPr>
              <a:t>Seq2Seq Explanation (RNN vs RNN-with-Attention) </a:t>
            </a:r>
            <a:endParaRPr lang="en-US" sz="2000" b="1" strike="noStrike" spc="-1" dirty="0">
              <a:solidFill>
                <a:srgbClr val="0070C0"/>
              </a:solidFill>
              <a:latin typeface="Arial"/>
            </a:endParaRPr>
          </a:p>
        </p:txBody>
      </p:sp>
      <p:sp>
        <p:nvSpPr>
          <p:cNvPr id="123" name="CustomShape 2"/>
          <p:cNvSpPr/>
          <p:nvPr/>
        </p:nvSpPr>
        <p:spPr>
          <a:xfrm>
            <a:off x="344160" y="482204"/>
            <a:ext cx="7277400" cy="600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200" b="0" strike="noStrike" spc="-1" dirty="0">
                <a:solidFill>
                  <a:srgbClr val="595959"/>
                </a:solidFill>
                <a:latin typeface="Arial"/>
                <a:ea typeface="Arial"/>
              </a:rPr>
              <a:t>Compare your RNN result to your RNN-with-Attention result and explain why they differ.</a:t>
            </a:r>
            <a:endParaRPr lang="en-US" sz="1200" b="0" strike="noStrike" spc="-1" dirty="0">
              <a:latin typeface="Arial"/>
            </a:endParaRPr>
          </a:p>
        </p:txBody>
      </p:sp>
      <p:sp>
        <p:nvSpPr>
          <p:cNvPr id="2" name="TextBox 1">
            <a:extLst>
              <a:ext uri="{FF2B5EF4-FFF2-40B4-BE49-F238E27FC236}">
                <a16:creationId xmlns:a16="http://schemas.microsoft.com/office/drawing/2014/main" id="{3372D10E-047B-D78D-21FB-8E2FB4A377F5}"/>
              </a:ext>
            </a:extLst>
          </p:cNvPr>
          <p:cNvSpPr txBox="1"/>
          <p:nvPr/>
        </p:nvSpPr>
        <p:spPr>
          <a:xfrm>
            <a:off x="344160" y="885645"/>
            <a:ext cx="8517960" cy="2862322"/>
          </a:xfrm>
          <a:prstGeom prst="rect">
            <a:avLst/>
          </a:prstGeom>
          <a:noFill/>
        </p:spPr>
        <p:txBody>
          <a:bodyPr wrap="square" rtlCol="0">
            <a:spAutoFit/>
          </a:bodyPr>
          <a:lstStyle/>
          <a:p>
            <a:r>
              <a:rPr lang="en-US" sz="1200" dirty="0"/>
              <a:t>Comparing the results, I find following differences and show the main explanations:</a:t>
            </a:r>
          </a:p>
          <a:p>
            <a:endParaRPr lang="en-US" sz="1200" dirty="0"/>
          </a:p>
          <a:p>
            <a:pPr marL="228600" indent="-228600">
              <a:buAutoNum type="arabicParenBoth"/>
            </a:pPr>
            <a:r>
              <a:rPr lang="en-US" sz="1200" dirty="0"/>
              <a:t>First, the </a:t>
            </a:r>
            <a:r>
              <a:rPr lang="en-US" sz="1200" b="1" dirty="0"/>
              <a:t>RNN-with-Attention model performs much better than the standard RNN model</a:t>
            </a:r>
            <a:r>
              <a:rPr lang="en-US" sz="1200" dirty="0"/>
              <a:t>. The vanilla RNN has a validation perplexity of about </a:t>
            </a:r>
            <a:r>
              <a:rPr lang="en-US" sz="1200" b="1" dirty="0"/>
              <a:t>109.50</a:t>
            </a:r>
            <a:r>
              <a:rPr lang="en-US" sz="1200" dirty="0"/>
              <a:t>, while the RNN-with-Attention reduces it to around </a:t>
            </a:r>
            <a:r>
              <a:rPr lang="en-US" sz="1200" b="1" dirty="0"/>
              <a:t>30.58</a:t>
            </a:r>
            <a:r>
              <a:rPr lang="en-US" sz="1200" dirty="0"/>
              <a:t>, indicating a significant improvement in translation quality.</a:t>
            </a:r>
          </a:p>
          <a:p>
            <a:r>
              <a:rPr lang="en-US" sz="1200" dirty="0"/>
              <a:t>     </a:t>
            </a:r>
          </a:p>
          <a:p>
            <a:r>
              <a:rPr lang="en-US" sz="1200" dirty="0"/>
              <a:t>(2) </a:t>
            </a:r>
            <a:r>
              <a:rPr lang="en-US" sz="1200" b="1" u="sng" dirty="0"/>
              <a:t>Main Explanations</a:t>
            </a:r>
            <a:r>
              <a:rPr lang="en-US" sz="1200" dirty="0"/>
              <a:t>: The main reason for this difference is the information bottleneck in the basic Seq2Seq architecture.</a:t>
            </a:r>
          </a:p>
          <a:p>
            <a:endParaRPr lang="en-US" sz="1200" dirty="0"/>
          </a:p>
          <a:p>
            <a:pPr marL="171450" indent="-171450">
              <a:buFont typeface="Wingdings" panose="05000000000000000000" pitchFamily="2" charset="2"/>
              <a:buChar char="Ø"/>
            </a:pPr>
            <a:r>
              <a:rPr lang="en-US" sz="1200" dirty="0"/>
              <a:t>In the vanilla RNN model, the encoder compresses the entire input sequence into a </a:t>
            </a:r>
            <a:r>
              <a:rPr lang="en-US" sz="1200" b="1" dirty="0"/>
              <a:t>single fixed-length hidden vector</a:t>
            </a:r>
            <a:r>
              <a:rPr lang="en-US" sz="1200" dirty="0"/>
              <a:t>, which is then passed to the decoder. This compression often causes important information to be lost, especially for longer sequences, making it harder for the decoder to generate accurate outputs.</a:t>
            </a:r>
          </a:p>
          <a:p>
            <a:endParaRPr lang="en-US" sz="1200" dirty="0"/>
          </a:p>
          <a:p>
            <a:pPr marL="171450" indent="-171450">
              <a:buFont typeface="Wingdings" panose="05000000000000000000" pitchFamily="2" charset="2"/>
              <a:buChar char="Ø"/>
            </a:pPr>
            <a:r>
              <a:rPr lang="en-US" sz="1200" dirty="0"/>
              <a:t>The attention mechanism alleviates this problem by allowing the decoder to dynamically focus on different encoder hidden states during each decoding step. Instead of relying only on the final encoder state, the decoder can selectively attend to the most relevant parts of the input sequence when predicting each output token.</a:t>
            </a:r>
          </a:p>
        </p:txBody>
      </p:sp>
    </p:spTree>
    <p:extLst>
      <p:ext uri="{BB962C8B-B14F-4D97-AF65-F5344CB8AC3E}">
        <p14:creationId xmlns:p14="http://schemas.microsoft.com/office/powerpoint/2010/main" val="1643795113"/>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505D9B4-1C28-C8EC-3767-05D81AD000EC}"/>
              </a:ext>
            </a:extLst>
          </p:cNvPr>
          <p:cNvSpPr>
            <a:spLocks noGrp="1"/>
          </p:cNvSpPr>
          <p:nvPr>
            <p:ph type="title"/>
          </p:nvPr>
        </p:nvSpPr>
        <p:spPr>
          <a:xfrm>
            <a:off x="493160" y="-31102"/>
            <a:ext cx="8193280" cy="858600"/>
          </a:xfrm>
        </p:spPr>
        <p:txBody>
          <a:bodyPr/>
          <a:lstStyle/>
          <a:p>
            <a:r>
              <a:rPr lang="en-US" sz="2000" b="1" dirty="0">
                <a:solidFill>
                  <a:schemeClr val="accent1"/>
                </a:solidFill>
              </a:rPr>
              <a:t>Seq2Seq Results – Best model</a:t>
            </a:r>
            <a:br>
              <a:rPr lang="en-US" sz="2000" b="1" dirty="0">
                <a:solidFill>
                  <a:schemeClr val="accent1"/>
                </a:solidFill>
              </a:rPr>
            </a:br>
            <a:r>
              <a:rPr lang="en-US" sz="1600" b="1" dirty="0">
                <a:solidFill>
                  <a:schemeClr val="accent1"/>
                </a:solidFill>
              </a:rPr>
              <a:t>Values are for last epoch</a:t>
            </a:r>
          </a:p>
        </p:txBody>
      </p:sp>
      <p:sp>
        <p:nvSpPr>
          <p:cNvPr id="6" name="TextBox 5">
            <a:extLst>
              <a:ext uri="{FF2B5EF4-FFF2-40B4-BE49-F238E27FC236}">
                <a16:creationId xmlns:a16="http://schemas.microsoft.com/office/drawing/2014/main" id="{9F74BA3E-6B97-3522-45B4-21C3C6858334}"/>
              </a:ext>
            </a:extLst>
          </p:cNvPr>
          <p:cNvSpPr txBox="1"/>
          <p:nvPr/>
        </p:nvSpPr>
        <p:spPr>
          <a:xfrm>
            <a:off x="375008" y="681109"/>
            <a:ext cx="7951683" cy="338554"/>
          </a:xfrm>
          <a:prstGeom prst="rect">
            <a:avLst/>
          </a:prstGeom>
          <a:noFill/>
        </p:spPr>
        <p:txBody>
          <a:bodyPr wrap="square" rtlCol="0">
            <a:spAutoFit/>
          </a:bodyPr>
          <a:lstStyle/>
          <a:p>
            <a:r>
              <a:rPr lang="en-US" sz="1600" dirty="0"/>
              <a:t>Your best model after hyper-parameter tuning</a:t>
            </a:r>
          </a:p>
        </p:txBody>
      </p:sp>
      <p:sp>
        <p:nvSpPr>
          <p:cNvPr id="12" name="TextBox 11">
            <a:extLst>
              <a:ext uri="{FF2B5EF4-FFF2-40B4-BE49-F238E27FC236}">
                <a16:creationId xmlns:a16="http://schemas.microsoft.com/office/drawing/2014/main" id="{67B8C98F-AEAC-8BC0-8E13-1C59FE48BF95}"/>
              </a:ext>
            </a:extLst>
          </p:cNvPr>
          <p:cNvSpPr txBox="1"/>
          <p:nvPr/>
        </p:nvSpPr>
        <p:spPr>
          <a:xfrm>
            <a:off x="380144" y="1067102"/>
            <a:ext cx="3840792" cy="1606850"/>
          </a:xfrm>
          <a:prstGeom prst="rect">
            <a:avLst/>
          </a:prstGeom>
          <a:noFill/>
        </p:spPr>
        <p:txBody>
          <a:bodyPr wrap="square" rtlCol="0">
            <a:spAutoFit/>
          </a:bodyPr>
          <a:lstStyle/>
          <a:p>
            <a:pPr algn="ctr">
              <a:lnSpc>
                <a:spcPts val="2400"/>
              </a:lnSpc>
            </a:pPr>
            <a:r>
              <a:rPr lang="en-US" dirty="0">
                <a:solidFill>
                  <a:srgbClr val="0070C0"/>
                </a:solidFill>
              </a:rPr>
              <a:t>Best model</a:t>
            </a:r>
          </a:p>
          <a:p>
            <a:pPr>
              <a:lnSpc>
                <a:spcPts val="2400"/>
              </a:lnSpc>
            </a:pPr>
            <a:r>
              <a:rPr lang="en-US" dirty="0"/>
              <a:t>Training Loss: 2.7735</a:t>
            </a:r>
          </a:p>
          <a:p>
            <a:pPr>
              <a:lnSpc>
                <a:spcPts val="2400"/>
              </a:lnSpc>
            </a:pPr>
            <a:r>
              <a:rPr lang="en-US" dirty="0"/>
              <a:t>Training Perplexity: 16.0151</a:t>
            </a:r>
          </a:p>
          <a:p>
            <a:pPr>
              <a:lnSpc>
                <a:spcPts val="2400"/>
              </a:lnSpc>
            </a:pPr>
            <a:r>
              <a:rPr lang="en-US" dirty="0"/>
              <a:t>Validation Loss: 3.2045</a:t>
            </a:r>
          </a:p>
          <a:p>
            <a:pPr>
              <a:lnSpc>
                <a:spcPts val="2400"/>
              </a:lnSpc>
            </a:pPr>
            <a:r>
              <a:rPr lang="en-US" dirty="0"/>
              <a:t>Validation Perplexity: 24.6432</a:t>
            </a:r>
          </a:p>
        </p:txBody>
      </p:sp>
      <p:sp>
        <p:nvSpPr>
          <p:cNvPr id="21" name="TextBox 20">
            <a:extLst>
              <a:ext uri="{FF2B5EF4-FFF2-40B4-BE49-F238E27FC236}">
                <a16:creationId xmlns:a16="http://schemas.microsoft.com/office/drawing/2014/main" id="{8FD89530-4810-B9EA-289E-1950DB5618C1}"/>
              </a:ext>
            </a:extLst>
          </p:cNvPr>
          <p:cNvSpPr txBox="1"/>
          <p:nvPr/>
        </p:nvSpPr>
        <p:spPr>
          <a:xfrm>
            <a:off x="380144" y="3058578"/>
            <a:ext cx="8024117" cy="375744"/>
          </a:xfrm>
          <a:prstGeom prst="rect">
            <a:avLst/>
          </a:prstGeom>
          <a:noFill/>
        </p:spPr>
        <p:txBody>
          <a:bodyPr wrap="square" rtlCol="0">
            <a:spAutoFit/>
          </a:bodyPr>
          <a:lstStyle/>
          <a:p>
            <a:pPr>
              <a:lnSpc>
                <a:spcPts val="2400"/>
              </a:lnSpc>
            </a:pPr>
            <a:r>
              <a:rPr lang="en-US" dirty="0"/>
              <a:t>List your best model hyper-parameter values including model type: ? </a:t>
            </a:r>
          </a:p>
        </p:txBody>
      </p:sp>
      <p:sp>
        <p:nvSpPr>
          <p:cNvPr id="3" name="TextBox 2">
            <a:extLst>
              <a:ext uri="{FF2B5EF4-FFF2-40B4-BE49-F238E27FC236}">
                <a16:creationId xmlns:a16="http://schemas.microsoft.com/office/drawing/2014/main" id="{6C283C34-E746-B26B-9717-2340149077F4}"/>
              </a:ext>
            </a:extLst>
          </p:cNvPr>
          <p:cNvSpPr txBox="1"/>
          <p:nvPr/>
        </p:nvSpPr>
        <p:spPr>
          <a:xfrm>
            <a:off x="493160" y="3520037"/>
            <a:ext cx="2782905" cy="1384995"/>
          </a:xfrm>
          <a:prstGeom prst="rect">
            <a:avLst/>
          </a:prstGeom>
          <a:noFill/>
        </p:spPr>
        <p:txBody>
          <a:bodyPr wrap="square">
            <a:spAutoFit/>
          </a:bodyPr>
          <a:lstStyle/>
          <a:p>
            <a:pPr>
              <a:buNone/>
            </a:pPr>
            <a:r>
              <a:rPr lang="en-US" sz="1400" dirty="0" err="1">
                <a:effectLst/>
                <a:latin typeface="Times New Roman" panose="02020603050405020304" pitchFamily="18" charset="0"/>
                <a:cs typeface="Times New Roman" panose="02020603050405020304" pitchFamily="18" charset="0"/>
              </a:rPr>
              <a:t>encoder_emb_size</a:t>
            </a:r>
            <a:r>
              <a:rPr lang="en-US" sz="1400" dirty="0">
                <a:effectLst/>
                <a:latin typeface="Times New Roman" panose="02020603050405020304" pitchFamily="18" charset="0"/>
                <a:cs typeface="Times New Roman" panose="02020603050405020304" pitchFamily="18" charset="0"/>
              </a:rPr>
              <a:t> = 256</a:t>
            </a:r>
          </a:p>
          <a:p>
            <a:pPr>
              <a:buNone/>
            </a:pPr>
            <a:r>
              <a:rPr lang="en-US" sz="1400" dirty="0" err="1">
                <a:effectLst/>
                <a:latin typeface="Times New Roman" panose="02020603050405020304" pitchFamily="18" charset="0"/>
                <a:cs typeface="Times New Roman" panose="02020603050405020304" pitchFamily="18" charset="0"/>
              </a:rPr>
              <a:t>encoder_hidden_size</a:t>
            </a:r>
            <a:r>
              <a:rPr lang="en-US" sz="1400" dirty="0">
                <a:effectLst/>
                <a:latin typeface="Times New Roman" panose="02020603050405020304" pitchFamily="18" charset="0"/>
                <a:cs typeface="Times New Roman" panose="02020603050405020304" pitchFamily="18" charset="0"/>
              </a:rPr>
              <a:t> = 256</a:t>
            </a:r>
          </a:p>
          <a:p>
            <a:pPr>
              <a:buNone/>
            </a:pPr>
            <a:r>
              <a:rPr lang="en-US" sz="1400" dirty="0" err="1">
                <a:effectLst/>
                <a:latin typeface="Times New Roman" panose="02020603050405020304" pitchFamily="18" charset="0"/>
                <a:cs typeface="Times New Roman" panose="02020603050405020304" pitchFamily="18" charset="0"/>
              </a:rPr>
              <a:t>encoder_dropout</a:t>
            </a:r>
            <a:r>
              <a:rPr lang="en-US" sz="1400" dirty="0">
                <a:effectLst/>
                <a:latin typeface="Times New Roman" panose="02020603050405020304" pitchFamily="18" charset="0"/>
                <a:cs typeface="Times New Roman" panose="02020603050405020304" pitchFamily="18" charset="0"/>
              </a:rPr>
              <a:t> = 0.3</a:t>
            </a:r>
          </a:p>
          <a:p>
            <a:pPr>
              <a:buNone/>
            </a:pPr>
            <a:r>
              <a:rPr lang="en-US" sz="1400" dirty="0" err="1">
                <a:effectLst/>
                <a:latin typeface="Times New Roman" panose="02020603050405020304" pitchFamily="18" charset="0"/>
                <a:cs typeface="Times New Roman" panose="02020603050405020304" pitchFamily="18" charset="0"/>
              </a:rPr>
              <a:t>decoder_emb_size</a:t>
            </a:r>
            <a:r>
              <a:rPr lang="en-US" sz="1400" dirty="0">
                <a:effectLst/>
                <a:latin typeface="Times New Roman" panose="02020603050405020304" pitchFamily="18" charset="0"/>
                <a:cs typeface="Times New Roman" panose="02020603050405020304" pitchFamily="18" charset="0"/>
              </a:rPr>
              <a:t> = 256</a:t>
            </a:r>
          </a:p>
          <a:p>
            <a:pPr>
              <a:buNone/>
            </a:pPr>
            <a:r>
              <a:rPr lang="en-US" sz="1400" dirty="0" err="1">
                <a:effectLst/>
                <a:latin typeface="Times New Roman" panose="02020603050405020304" pitchFamily="18" charset="0"/>
                <a:cs typeface="Times New Roman" panose="02020603050405020304" pitchFamily="18" charset="0"/>
              </a:rPr>
              <a:t>decoder_hidden_size</a:t>
            </a:r>
            <a:r>
              <a:rPr lang="en-US" sz="1400" dirty="0">
                <a:effectLst/>
                <a:latin typeface="Times New Roman" panose="02020603050405020304" pitchFamily="18" charset="0"/>
                <a:cs typeface="Times New Roman" panose="02020603050405020304" pitchFamily="18" charset="0"/>
              </a:rPr>
              <a:t> = 256</a:t>
            </a:r>
          </a:p>
          <a:p>
            <a:pPr>
              <a:buNone/>
            </a:pPr>
            <a:r>
              <a:rPr lang="en-US" sz="1400" dirty="0" err="1">
                <a:effectLst/>
                <a:latin typeface="Times New Roman" panose="02020603050405020304" pitchFamily="18" charset="0"/>
                <a:cs typeface="Times New Roman" panose="02020603050405020304" pitchFamily="18" charset="0"/>
              </a:rPr>
              <a:t>decoder_dropout</a:t>
            </a:r>
            <a:r>
              <a:rPr lang="en-US" sz="1400" dirty="0">
                <a:effectLst/>
                <a:latin typeface="Times New Roman" panose="02020603050405020304" pitchFamily="18" charset="0"/>
                <a:cs typeface="Times New Roman" panose="02020603050405020304" pitchFamily="18" charset="0"/>
              </a:rPr>
              <a:t> = 0.3</a:t>
            </a:r>
          </a:p>
        </p:txBody>
      </p:sp>
      <p:sp>
        <p:nvSpPr>
          <p:cNvPr id="7" name="TextBox 6">
            <a:extLst>
              <a:ext uri="{FF2B5EF4-FFF2-40B4-BE49-F238E27FC236}">
                <a16:creationId xmlns:a16="http://schemas.microsoft.com/office/drawing/2014/main" id="{9E8EFBAF-5A28-3E97-7567-408288EB1225}"/>
              </a:ext>
            </a:extLst>
          </p:cNvPr>
          <p:cNvSpPr txBox="1"/>
          <p:nvPr/>
        </p:nvSpPr>
        <p:spPr>
          <a:xfrm>
            <a:off x="3933001" y="3520037"/>
            <a:ext cx="1934936" cy="738664"/>
          </a:xfrm>
          <a:prstGeom prst="rect">
            <a:avLst/>
          </a:prstGeom>
          <a:noFill/>
        </p:spPr>
        <p:txBody>
          <a:bodyPr wrap="square">
            <a:spAutoFit/>
          </a:bodyPr>
          <a:lstStyle>
            <a:defPPr>
              <a:defRPr lang="en-US"/>
            </a:defPPr>
            <a:lvl1pPr>
              <a:buNone/>
              <a:defRPr sz="1400">
                <a:effectLst/>
                <a:latin typeface="Times New Roman" panose="02020603050405020304" pitchFamily="18" charset="0"/>
                <a:cs typeface="Times New Roman" panose="02020603050405020304" pitchFamily="18" charset="0"/>
              </a:defRPr>
            </a:lvl1pPr>
          </a:lstStyle>
          <a:p>
            <a:r>
              <a:rPr lang="en-US" dirty="0" err="1"/>
              <a:t>learning_rate</a:t>
            </a:r>
            <a:r>
              <a:rPr lang="en-US" dirty="0"/>
              <a:t> = 5e-4</a:t>
            </a:r>
          </a:p>
          <a:p>
            <a:r>
              <a:rPr lang="en-US" dirty="0" err="1"/>
              <a:t>model_type</a:t>
            </a:r>
            <a:r>
              <a:rPr lang="en-US" dirty="0"/>
              <a:t> = "LSTM“</a:t>
            </a:r>
          </a:p>
          <a:p>
            <a:r>
              <a:rPr lang="en-US" dirty="0"/>
              <a:t>EPOCHS = 25</a:t>
            </a:r>
          </a:p>
        </p:txBody>
      </p:sp>
    </p:spTree>
    <p:extLst>
      <p:ext uri="{BB962C8B-B14F-4D97-AF65-F5344CB8AC3E}">
        <p14:creationId xmlns:p14="http://schemas.microsoft.com/office/powerpoint/2010/main" val="2272116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505D9B4-1C28-C8EC-3767-05D81AD000EC}"/>
              </a:ext>
            </a:extLst>
          </p:cNvPr>
          <p:cNvSpPr>
            <a:spLocks noGrp="1"/>
          </p:cNvSpPr>
          <p:nvPr>
            <p:ph type="title"/>
          </p:nvPr>
        </p:nvSpPr>
        <p:spPr>
          <a:xfrm>
            <a:off x="493160" y="-31102"/>
            <a:ext cx="8193280" cy="858600"/>
          </a:xfrm>
        </p:spPr>
        <p:txBody>
          <a:bodyPr/>
          <a:lstStyle/>
          <a:p>
            <a:r>
              <a:rPr lang="en-US" sz="2000" b="1" dirty="0">
                <a:solidFill>
                  <a:schemeClr val="accent1"/>
                </a:solidFill>
              </a:rPr>
              <a:t>Seq2Seq Best model Learning Curves (Perplexity)</a:t>
            </a:r>
          </a:p>
        </p:txBody>
      </p:sp>
      <p:pic>
        <p:nvPicPr>
          <p:cNvPr id="3" name="Picture 2">
            <a:extLst>
              <a:ext uri="{FF2B5EF4-FFF2-40B4-BE49-F238E27FC236}">
                <a16:creationId xmlns:a16="http://schemas.microsoft.com/office/drawing/2014/main" id="{CB99A6C4-24E2-0DE4-3CC9-E0F5CD75D28E}"/>
              </a:ext>
            </a:extLst>
          </p:cNvPr>
          <p:cNvPicPr>
            <a:picLocks noChangeAspect="1"/>
          </p:cNvPicPr>
          <p:nvPr/>
        </p:nvPicPr>
        <p:blipFill>
          <a:blip r:embed="rId2"/>
          <a:stretch>
            <a:fillRect/>
          </a:stretch>
        </p:blipFill>
        <p:spPr>
          <a:xfrm>
            <a:off x="1510393" y="641576"/>
            <a:ext cx="5486400" cy="4333875"/>
          </a:xfrm>
          <a:prstGeom prst="rect">
            <a:avLst/>
          </a:prstGeom>
        </p:spPr>
      </p:pic>
    </p:spTree>
    <p:extLst>
      <p:ext uri="{BB962C8B-B14F-4D97-AF65-F5344CB8AC3E}">
        <p14:creationId xmlns:p14="http://schemas.microsoft.com/office/powerpoint/2010/main" val="65553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CustomShape 1"/>
          <p:cNvSpPr/>
          <p:nvPr/>
        </p:nvSpPr>
        <p:spPr>
          <a:xfrm>
            <a:off x="287676" y="18138"/>
            <a:ext cx="8542404" cy="57024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lstStyle/>
          <a:p>
            <a:pPr>
              <a:lnSpc>
                <a:spcPct val="100000"/>
              </a:lnSpc>
            </a:pPr>
            <a:r>
              <a:rPr lang="en-US" sz="2000" b="1" strike="noStrike" spc="-1" dirty="0">
                <a:solidFill>
                  <a:srgbClr val="0070C0"/>
                </a:solidFill>
                <a:latin typeface="Arial"/>
                <a:ea typeface="Arial"/>
              </a:rPr>
              <a:t>Seq2Seq Explanation – Best model </a:t>
            </a:r>
            <a:endParaRPr lang="en-US" sz="2000" b="1" strike="noStrike" spc="-1" dirty="0">
              <a:solidFill>
                <a:srgbClr val="0070C0"/>
              </a:solidFill>
              <a:latin typeface="Arial"/>
            </a:endParaRPr>
          </a:p>
        </p:txBody>
      </p:sp>
      <p:sp>
        <p:nvSpPr>
          <p:cNvPr id="123" name="CustomShape 2"/>
          <p:cNvSpPr/>
          <p:nvPr/>
        </p:nvSpPr>
        <p:spPr>
          <a:xfrm>
            <a:off x="344160" y="656862"/>
            <a:ext cx="7277400" cy="600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200" b="0" strike="noStrike" spc="-1" dirty="0">
              <a:latin typeface="Arial"/>
            </a:endParaRPr>
          </a:p>
        </p:txBody>
      </p:sp>
      <p:sp>
        <p:nvSpPr>
          <p:cNvPr id="2" name="CustomShape 2">
            <a:extLst>
              <a:ext uri="{FF2B5EF4-FFF2-40B4-BE49-F238E27FC236}">
                <a16:creationId xmlns:a16="http://schemas.microsoft.com/office/drawing/2014/main" id="{1EC35DB9-9351-15F0-50E5-662FA355DF63}"/>
              </a:ext>
            </a:extLst>
          </p:cNvPr>
          <p:cNvSpPr/>
          <p:nvPr/>
        </p:nvSpPr>
        <p:spPr>
          <a:xfrm>
            <a:off x="344159" y="502752"/>
            <a:ext cx="7679957" cy="600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200" b="0" strike="noStrike" spc="-1" dirty="0">
                <a:solidFill>
                  <a:srgbClr val="595959"/>
                </a:solidFill>
                <a:latin typeface="Arial"/>
                <a:ea typeface="Arial"/>
              </a:rPr>
              <a:t>Explain </a:t>
            </a:r>
            <a:r>
              <a:rPr lang="en-US" sz="1200" spc="-1" dirty="0">
                <a:solidFill>
                  <a:srgbClr val="595959"/>
                </a:solidFill>
                <a:latin typeface="Arial"/>
                <a:ea typeface="Arial"/>
              </a:rPr>
              <a:t>the details of your best model. Explain what you did to improve your model’s performance and why</a:t>
            </a:r>
            <a:endParaRPr lang="en-US" sz="1200" b="0" strike="noStrike" spc="-1" dirty="0">
              <a:latin typeface="Arial"/>
            </a:endParaRPr>
          </a:p>
        </p:txBody>
      </p:sp>
      <p:sp>
        <p:nvSpPr>
          <p:cNvPr id="3" name="TextBox 2">
            <a:extLst>
              <a:ext uri="{FF2B5EF4-FFF2-40B4-BE49-F238E27FC236}">
                <a16:creationId xmlns:a16="http://schemas.microsoft.com/office/drawing/2014/main" id="{123A0EB8-1757-C653-5BBD-D6870614EC9D}"/>
              </a:ext>
            </a:extLst>
          </p:cNvPr>
          <p:cNvSpPr txBox="1"/>
          <p:nvPr/>
        </p:nvSpPr>
        <p:spPr>
          <a:xfrm>
            <a:off x="344160" y="885645"/>
            <a:ext cx="8517960" cy="3231654"/>
          </a:xfrm>
          <a:prstGeom prst="rect">
            <a:avLst/>
          </a:prstGeom>
          <a:noFill/>
        </p:spPr>
        <p:txBody>
          <a:bodyPr wrap="square" rtlCol="0">
            <a:spAutoFit/>
          </a:bodyPr>
          <a:lstStyle/>
          <a:p>
            <a:r>
              <a:rPr lang="en-US" sz="1200" b="1" u="sng" dirty="0"/>
              <a:t>M</a:t>
            </a:r>
            <a:r>
              <a:rPr lang="en-US" altLang="zh-CN" sz="1200" b="1" u="sng" dirty="0"/>
              <a:t>y Best Model Setting and Performance: </a:t>
            </a:r>
            <a:r>
              <a:rPr lang="en-US" altLang="zh-CN" sz="1200" dirty="0"/>
              <a:t>t</a:t>
            </a:r>
            <a:r>
              <a:rPr lang="en-US" sz="1200" dirty="0"/>
              <a:t>he best performing model in our experiments is an LSTM-based Seq2Seq model with attention. After hyper-parameter tuning, the model achieved a </a:t>
            </a:r>
            <a:r>
              <a:rPr lang="en-US" sz="1200" b="1" dirty="0"/>
              <a:t>training perplexity of 16.02</a:t>
            </a:r>
            <a:r>
              <a:rPr lang="en-US" sz="1200" dirty="0"/>
              <a:t> and a </a:t>
            </a:r>
            <a:r>
              <a:rPr lang="en-US" sz="1200" b="1" dirty="0"/>
              <a:t>validation perplexity of 24.64</a:t>
            </a:r>
            <a:r>
              <a:rPr lang="en-US" sz="1200" dirty="0"/>
              <a:t>, which improves upon the earlier configurations.</a:t>
            </a:r>
          </a:p>
          <a:p>
            <a:endParaRPr lang="en-US" sz="1200" dirty="0"/>
          </a:p>
          <a:p>
            <a:r>
              <a:rPr lang="en-US" sz="1200" dirty="0"/>
              <a:t>Explanations: several hyper-parameters were adjusted to improve performance. </a:t>
            </a:r>
          </a:p>
          <a:p>
            <a:pPr marL="171450" indent="-171450">
              <a:buFont typeface="Wingdings" panose="05000000000000000000" pitchFamily="2" charset="2"/>
              <a:buChar char="Ø"/>
            </a:pPr>
            <a:r>
              <a:rPr lang="en-US" sz="1200" dirty="0"/>
              <a:t>First, the </a:t>
            </a:r>
            <a:r>
              <a:rPr lang="en-US" sz="1200" b="1" dirty="0"/>
              <a:t>embedding size and hidden size were increased from 128 to 256</a:t>
            </a:r>
            <a:r>
              <a:rPr lang="en-US" sz="1200" dirty="0"/>
              <a:t>, allowing the model to capture richer semantic representations of the input and output sequences.</a:t>
            </a:r>
          </a:p>
          <a:p>
            <a:pPr marL="171450" indent="-171450">
              <a:buFont typeface="Wingdings" panose="05000000000000000000" pitchFamily="2" charset="2"/>
              <a:buChar char="Ø"/>
            </a:pPr>
            <a:r>
              <a:rPr lang="en-US" sz="1200" dirty="0"/>
              <a:t>Second, the </a:t>
            </a:r>
            <a:r>
              <a:rPr lang="en-US" sz="1200" b="1" dirty="0"/>
              <a:t>learning rate was reduced from 1e-3 to 5e-4</a:t>
            </a:r>
            <a:r>
              <a:rPr lang="en-US" sz="1200" dirty="0"/>
              <a:t>, which stabilized the optimization process and allowed the model to converge more smoothly.</a:t>
            </a:r>
          </a:p>
          <a:p>
            <a:pPr marL="171450" indent="-171450">
              <a:buFont typeface="Wingdings" panose="05000000000000000000" pitchFamily="2" charset="2"/>
              <a:buChar char="Ø"/>
            </a:pPr>
            <a:r>
              <a:rPr lang="en-US" sz="1200" dirty="0"/>
              <a:t>Additionally, the </a:t>
            </a:r>
            <a:r>
              <a:rPr lang="en-US" sz="1200" b="1" dirty="0"/>
              <a:t>dropout rate was increased to 0.3</a:t>
            </a:r>
            <a:r>
              <a:rPr lang="en-US" sz="1200" dirty="0"/>
              <a:t>, which helps reduce overfitting and improves generalization on the validation set.</a:t>
            </a:r>
          </a:p>
          <a:p>
            <a:pPr marL="171450" indent="-171450">
              <a:buFont typeface="Wingdings" panose="05000000000000000000" pitchFamily="2" charset="2"/>
              <a:buChar char="Ø"/>
            </a:pPr>
            <a:r>
              <a:rPr lang="en-US" sz="1200" dirty="0"/>
              <a:t>Finally, the number of training </a:t>
            </a:r>
            <a:r>
              <a:rPr lang="en-US" sz="1200" b="1" dirty="0"/>
              <a:t>epochs was increased to 25</a:t>
            </a:r>
            <a:r>
              <a:rPr lang="en-US" sz="1200" dirty="0"/>
              <a:t>, giving the model more time to learn the sequence patterns.</a:t>
            </a:r>
          </a:p>
          <a:p>
            <a:pPr marL="171450" indent="-171450">
              <a:buFont typeface="Wingdings" panose="05000000000000000000" pitchFamily="2" charset="2"/>
              <a:buChar char="Ø"/>
            </a:pPr>
            <a:endParaRPr lang="en-US" sz="1200" dirty="0"/>
          </a:p>
          <a:p>
            <a:r>
              <a:rPr lang="en-US" sz="1200" dirty="0"/>
              <a:t>Meanwhile, combining LSTM with an attention mechanism significantly improves translation quality. The LSTM architecture captures long-range dependencies through its gated memory cells, while the attention mechanism allows the decoder to focus on the most relevant encoder hidden states at each decoding step. This reduces the information bottleneck present in the basic Seq2Seq architecture and results in lower loss and perplexity.</a:t>
            </a:r>
          </a:p>
        </p:txBody>
      </p:sp>
    </p:spTree>
    <p:extLst>
      <p:ext uri="{BB962C8B-B14F-4D97-AF65-F5344CB8AC3E}">
        <p14:creationId xmlns:p14="http://schemas.microsoft.com/office/powerpoint/2010/main" val="257932889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505D9B4-1C28-C8EC-3767-05D81AD000EC}"/>
              </a:ext>
            </a:extLst>
          </p:cNvPr>
          <p:cNvSpPr>
            <a:spLocks noGrp="1"/>
          </p:cNvSpPr>
          <p:nvPr>
            <p:ph type="title"/>
          </p:nvPr>
        </p:nvSpPr>
        <p:spPr>
          <a:xfrm>
            <a:off x="457200" y="9994"/>
            <a:ext cx="8229240" cy="858600"/>
          </a:xfrm>
        </p:spPr>
        <p:txBody>
          <a:bodyPr/>
          <a:lstStyle/>
          <a:p>
            <a:r>
              <a:rPr lang="en-US" sz="2000" b="1" dirty="0">
                <a:solidFill>
                  <a:schemeClr val="accent1"/>
                </a:solidFill>
              </a:rPr>
              <a:t>Transformer Results</a:t>
            </a:r>
            <a:br>
              <a:rPr lang="en-US" sz="2000" b="1" dirty="0">
                <a:solidFill>
                  <a:schemeClr val="accent1"/>
                </a:solidFill>
              </a:rPr>
            </a:br>
            <a:r>
              <a:rPr lang="en-US" sz="1600" b="1" dirty="0">
                <a:solidFill>
                  <a:schemeClr val="accent1"/>
                </a:solidFill>
              </a:rPr>
              <a:t>Values are for last epoch</a:t>
            </a:r>
          </a:p>
        </p:txBody>
      </p:sp>
      <p:grpSp>
        <p:nvGrpSpPr>
          <p:cNvPr id="16" name="Group 15">
            <a:extLst>
              <a:ext uri="{FF2B5EF4-FFF2-40B4-BE49-F238E27FC236}">
                <a16:creationId xmlns:a16="http://schemas.microsoft.com/office/drawing/2014/main" id="{327EA207-EC35-E972-48D2-09A65F042B85}"/>
              </a:ext>
            </a:extLst>
          </p:cNvPr>
          <p:cNvGrpSpPr/>
          <p:nvPr/>
        </p:nvGrpSpPr>
        <p:grpSpPr>
          <a:xfrm>
            <a:off x="380144" y="790518"/>
            <a:ext cx="7575480" cy="1914627"/>
            <a:chOff x="390418" y="1036280"/>
            <a:chExt cx="7575480" cy="1914627"/>
          </a:xfrm>
        </p:grpSpPr>
        <p:sp>
          <p:nvSpPr>
            <p:cNvPr id="12" name="TextBox 11">
              <a:extLst>
                <a:ext uri="{FF2B5EF4-FFF2-40B4-BE49-F238E27FC236}">
                  <a16:creationId xmlns:a16="http://schemas.microsoft.com/office/drawing/2014/main" id="{67B8C98F-AEAC-8BC0-8E13-1C59FE48BF95}"/>
                </a:ext>
              </a:extLst>
            </p:cNvPr>
            <p:cNvSpPr txBox="1"/>
            <p:nvPr/>
          </p:nvSpPr>
          <p:spPr>
            <a:xfrm>
              <a:off x="390418" y="1036280"/>
              <a:ext cx="3192615" cy="1914627"/>
            </a:xfrm>
            <a:prstGeom prst="rect">
              <a:avLst/>
            </a:prstGeom>
            <a:noFill/>
          </p:spPr>
          <p:txBody>
            <a:bodyPr wrap="square" rtlCol="0">
              <a:spAutoFit/>
            </a:bodyPr>
            <a:lstStyle/>
            <a:p>
              <a:pPr algn="ctr">
                <a:lnSpc>
                  <a:spcPts val="2400"/>
                </a:lnSpc>
              </a:pPr>
              <a:r>
                <a:rPr lang="en-US" dirty="0">
                  <a:solidFill>
                    <a:srgbClr val="0070C0"/>
                  </a:solidFill>
                </a:rPr>
                <a:t>Default configuration (Encoder Only)</a:t>
              </a:r>
            </a:p>
            <a:p>
              <a:pPr>
                <a:lnSpc>
                  <a:spcPts val="2400"/>
                </a:lnSpc>
              </a:pPr>
              <a:r>
                <a:rPr lang="en-US" dirty="0"/>
                <a:t>Training Loss: 2.1522</a:t>
              </a:r>
            </a:p>
            <a:p>
              <a:pPr>
                <a:lnSpc>
                  <a:spcPts val="2400"/>
                </a:lnSpc>
              </a:pPr>
              <a:r>
                <a:rPr lang="en-US" dirty="0"/>
                <a:t>Training Perplexity: 8.6038</a:t>
              </a:r>
            </a:p>
            <a:p>
              <a:pPr>
                <a:lnSpc>
                  <a:spcPts val="2400"/>
                </a:lnSpc>
              </a:pPr>
              <a:r>
                <a:rPr lang="en-US" dirty="0"/>
                <a:t>Validation Loss: 3.1143</a:t>
              </a:r>
            </a:p>
            <a:p>
              <a:pPr>
                <a:lnSpc>
                  <a:spcPts val="2400"/>
                </a:lnSpc>
              </a:pPr>
              <a:r>
                <a:rPr lang="en-US" dirty="0"/>
                <a:t>Validation Perplexity: 22.5184</a:t>
              </a:r>
            </a:p>
          </p:txBody>
        </p:sp>
        <p:sp>
          <p:nvSpPr>
            <p:cNvPr id="13" name="TextBox 12">
              <a:extLst>
                <a:ext uri="{FF2B5EF4-FFF2-40B4-BE49-F238E27FC236}">
                  <a16:creationId xmlns:a16="http://schemas.microsoft.com/office/drawing/2014/main" id="{B48C824F-5283-60BB-A126-AC1CA44235B2}"/>
                </a:ext>
              </a:extLst>
            </p:cNvPr>
            <p:cNvSpPr txBox="1"/>
            <p:nvPr/>
          </p:nvSpPr>
          <p:spPr>
            <a:xfrm>
              <a:off x="4893925" y="1036280"/>
              <a:ext cx="3071973" cy="1914627"/>
            </a:xfrm>
            <a:prstGeom prst="rect">
              <a:avLst/>
            </a:prstGeom>
            <a:noFill/>
          </p:spPr>
          <p:txBody>
            <a:bodyPr wrap="square" rtlCol="0">
              <a:spAutoFit/>
            </a:bodyPr>
            <a:lstStyle/>
            <a:p>
              <a:pPr algn="ctr">
                <a:lnSpc>
                  <a:spcPts val="2400"/>
                </a:lnSpc>
              </a:pPr>
              <a:r>
                <a:rPr lang="en-US" dirty="0">
                  <a:solidFill>
                    <a:srgbClr val="0070C0"/>
                  </a:solidFill>
                </a:rPr>
                <a:t>Default configuration (full transformer)</a:t>
              </a:r>
            </a:p>
            <a:p>
              <a:pPr>
                <a:lnSpc>
                  <a:spcPts val="2400"/>
                </a:lnSpc>
              </a:pPr>
              <a:r>
                <a:rPr lang="en-US" dirty="0"/>
                <a:t>Training Loss: 1.4871</a:t>
              </a:r>
            </a:p>
            <a:p>
              <a:pPr>
                <a:lnSpc>
                  <a:spcPts val="2400"/>
                </a:lnSpc>
              </a:pPr>
              <a:r>
                <a:rPr lang="en-US" dirty="0"/>
                <a:t>Training Perplexity: 4.4244</a:t>
              </a:r>
            </a:p>
            <a:p>
              <a:pPr>
                <a:lnSpc>
                  <a:spcPts val="2400"/>
                </a:lnSpc>
              </a:pPr>
              <a:r>
                <a:rPr lang="en-US" dirty="0"/>
                <a:t>Validation Loss: 1.7627</a:t>
              </a:r>
            </a:p>
            <a:p>
              <a:pPr>
                <a:lnSpc>
                  <a:spcPts val="2400"/>
                </a:lnSpc>
              </a:pPr>
              <a:r>
                <a:rPr lang="en-US" dirty="0"/>
                <a:t>Validation Perplexity: 5.8282</a:t>
              </a:r>
            </a:p>
          </p:txBody>
        </p:sp>
      </p:grpSp>
      <p:sp>
        <p:nvSpPr>
          <p:cNvPr id="2" name="TextBox 1">
            <a:extLst>
              <a:ext uri="{FF2B5EF4-FFF2-40B4-BE49-F238E27FC236}">
                <a16:creationId xmlns:a16="http://schemas.microsoft.com/office/drawing/2014/main" id="{010EA7B6-5A37-7E10-27AF-AA8FA3C5122E}"/>
              </a:ext>
            </a:extLst>
          </p:cNvPr>
          <p:cNvSpPr txBox="1"/>
          <p:nvPr/>
        </p:nvSpPr>
        <p:spPr>
          <a:xfrm>
            <a:off x="380144" y="3058578"/>
            <a:ext cx="8024117" cy="1606850"/>
          </a:xfrm>
          <a:prstGeom prst="rect">
            <a:avLst/>
          </a:prstGeom>
          <a:noFill/>
        </p:spPr>
        <p:txBody>
          <a:bodyPr wrap="square" rtlCol="0">
            <a:spAutoFit/>
          </a:bodyPr>
          <a:lstStyle/>
          <a:p>
            <a:pPr>
              <a:lnSpc>
                <a:spcPts val="2400"/>
              </a:lnSpc>
            </a:pPr>
            <a:endParaRPr lang="en-US" dirty="0"/>
          </a:p>
          <a:p>
            <a:pPr>
              <a:lnSpc>
                <a:spcPts val="2400"/>
              </a:lnSpc>
            </a:pPr>
            <a:endParaRPr lang="en-US" dirty="0"/>
          </a:p>
          <a:p>
            <a:pPr>
              <a:lnSpc>
                <a:spcPts val="2400"/>
              </a:lnSpc>
            </a:pPr>
            <a:endParaRPr lang="en-US" dirty="0"/>
          </a:p>
          <a:p>
            <a:pPr>
              <a:lnSpc>
                <a:spcPts val="2400"/>
              </a:lnSpc>
            </a:pPr>
            <a:endParaRPr lang="en-US" dirty="0"/>
          </a:p>
          <a:p>
            <a:pPr>
              <a:lnSpc>
                <a:spcPts val="2400"/>
              </a:lnSpc>
            </a:pPr>
            <a:endParaRPr lang="en-US" dirty="0"/>
          </a:p>
        </p:txBody>
      </p:sp>
      <p:sp>
        <p:nvSpPr>
          <p:cNvPr id="3" name="TextBox 2">
            <a:extLst>
              <a:ext uri="{FF2B5EF4-FFF2-40B4-BE49-F238E27FC236}">
                <a16:creationId xmlns:a16="http://schemas.microsoft.com/office/drawing/2014/main" id="{A1A92D9A-40A2-9F9E-C4DC-586AD8A06315}"/>
              </a:ext>
            </a:extLst>
          </p:cNvPr>
          <p:cNvSpPr txBox="1"/>
          <p:nvPr/>
        </p:nvSpPr>
        <p:spPr>
          <a:xfrm>
            <a:off x="364734" y="2868715"/>
            <a:ext cx="3071973" cy="1606850"/>
          </a:xfrm>
          <a:prstGeom prst="rect">
            <a:avLst/>
          </a:prstGeom>
          <a:noFill/>
        </p:spPr>
        <p:txBody>
          <a:bodyPr wrap="square" rtlCol="0">
            <a:spAutoFit/>
          </a:bodyPr>
          <a:lstStyle/>
          <a:p>
            <a:pPr algn="ctr">
              <a:lnSpc>
                <a:spcPts val="2400"/>
              </a:lnSpc>
            </a:pPr>
            <a:r>
              <a:rPr lang="en-US" dirty="0">
                <a:solidFill>
                  <a:srgbClr val="0070C0"/>
                </a:solidFill>
              </a:rPr>
              <a:t>Best model (full transformer)</a:t>
            </a:r>
          </a:p>
          <a:p>
            <a:pPr>
              <a:lnSpc>
                <a:spcPts val="2400"/>
              </a:lnSpc>
            </a:pPr>
            <a:r>
              <a:rPr lang="en-US" dirty="0"/>
              <a:t>Training Loss: 1.4909</a:t>
            </a:r>
          </a:p>
          <a:p>
            <a:pPr>
              <a:lnSpc>
                <a:spcPts val="2400"/>
              </a:lnSpc>
            </a:pPr>
            <a:r>
              <a:rPr lang="en-US" dirty="0"/>
              <a:t>Training Perplexity: 4.4409</a:t>
            </a:r>
          </a:p>
          <a:p>
            <a:pPr>
              <a:lnSpc>
                <a:spcPts val="2400"/>
              </a:lnSpc>
            </a:pPr>
            <a:r>
              <a:rPr lang="en-US" dirty="0"/>
              <a:t>Validation Loss: 1.7602</a:t>
            </a:r>
          </a:p>
          <a:p>
            <a:pPr>
              <a:lnSpc>
                <a:spcPts val="2400"/>
              </a:lnSpc>
            </a:pPr>
            <a:r>
              <a:rPr lang="en-US" dirty="0"/>
              <a:t>Validation Perplexity: 5.8137</a:t>
            </a:r>
          </a:p>
        </p:txBody>
      </p:sp>
      <p:sp>
        <p:nvSpPr>
          <p:cNvPr id="8" name="TextBox 7">
            <a:extLst>
              <a:ext uri="{FF2B5EF4-FFF2-40B4-BE49-F238E27FC236}">
                <a16:creationId xmlns:a16="http://schemas.microsoft.com/office/drawing/2014/main" id="{107D747A-929A-C3F7-3080-EE2CF43C7282}"/>
              </a:ext>
            </a:extLst>
          </p:cNvPr>
          <p:cNvSpPr txBox="1"/>
          <p:nvPr/>
        </p:nvSpPr>
        <p:spPr>
          <a:xfrm>
            <a:off x="4827143" y="2868715"/>
            <a:ext cx="3071973" cy="2092881"/>
          </a:xfrm>
          <a:prstGeom prst="rect">
            <a:avLst/>
          </a:prstGeom>
          <a:noFill/>
        </p:spPr>
        <p:txBody>
          <a:bodyPr wrap="square" rtlCol="0">
            <a:spAutoFit/>
          </a:bodyPr>
          <a:lstStyle/>
          <a:p>
            <a:pPr>
              <a:lnSpc>
                <a:spcPts val="2400"/>
              </a:lnSpc>
            </a:pPr>
            <a:r>
              <a:rPr lang="en-US" dirty="0">
                <a:solidFill>
                  <a:srgbClr val="0070C0"/>
                </a:solidFill>
              </a:rPr>
              <a:t>List your best model hyper-parameter values (full transformer): ?</a:t>
            </a:r>
          </a:p>
          <a:p>
            <a:r>
              <a:rPr lang="en-US" sz="1400" dirty="0"/>
              <a:t>"</a:t>
            </a:r>
            <a:r>
              <a:rPr lang="en-US" sz="1400" dirty="0" err="1"/>
              <a:t>hidden_dim</a:t>
            </a:r>
            <a:r>
              <a:rPr lang="en-US" sz="1400" dirty="0"/>
              <a:t>": 256,</a:t>
            </a:r>
            <a:br>
              <a:rPr lang="en-US" sz="1400" dirty="0"/>
            </a:br>
            <a:r>
              <a:rPr lang="en-US" sz="1400" dirty="0"/>
              <a:t>"</a:t>
            </a:r>
            <a:r>
              <a:rPr lang="en-US" sz="1400" dirty="0" err="1"/>
              <a:t>num_heads</a:t>
            </a:r>
            <a:r>
              <a:rPr lang="en-US" sz="1400" dirty="0"/>
              <a:t>": 4,</a:t>
            </a:r>
            <a:br>
              <a:rPr lang="en-US" sz="1400" dirty="0"/>
            </a:br>
            <a:r>
              <a:rPr lang="en-US" sz="1400" dirty="0"/>
              <a:t>"</a:t>
            </a:r>
            <a:r>
              <a:rPr lang="en-US" sz="1400" dirty="0" err="1"/>
              <a:t>dim_feedforward</a:t>
            </a:r>
            <a:r>
              <a:rPr lang="en-US" sz="1400" dirty="0"/>
              <a:t>": 1024, </a:t>
            </a:r>
          </a:p>
          <a:p>
            <a:r>
              <a:rPr lang="en-US" sz="1400" dirty="0"/>
              <a:t>"</a:t>
            </a:r>
            <a:r>
              <a:rPr lang="en-US" sz="1400" dirty="0" err="1"/>
              <a:t>learning_rate</a:t>
            </a:r>
            <a:r>
              <a:rPr lang="en-US" sz="1400" dirty="0"/>
              <a:t>": 5e-4,</a:t>
            </a:r>
            <a:br>
              <a:rPr lang="en-US" sz="1400" dirty="0"/>
            </a:br>
            <a:r>
              <a:rPr lang="en-US" sz="1400" dirty="0"/>
              <a:t>"epochs": 15</a:t>
            </a:r>
            <a:endParaRPr lang="en-US" sz="1400" dirty="0">
              <a:solidFill>
                <a:srgbClr val="0070C0"/>
              </a:solidFill>
            </a:endParaRPr>
          </a:p>
        </p:txBody>
      </p:sp>
    </p:spTree>
    <p:extLst>
      <p:ext uri="{BB962C8B-B14F-4D97-AF65-F5344CB8AC3E}">
        <p14:creationId xmlns:p14="http://schemas.microsoft.com/office/powerpoint/2010/main" val="4241288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505D9B4-1C28-C8EC-3767-05D81AD000EC}"/>
              </a:ext>
            </a:extLst>
          </p:cNvPr>
          <p:cNvSpPr>
            <a:spLocks noGrp="1"/>
          </p:cNvSpPr>
          <p:nvPr>
            <p:ph type="title"/>
          </p:nvPr>
        </p:nvSpPr>
        <p:spPr>
          <a:xfrm>
            <a:off x="457200" y="9994"/>
            <a:ext cx="8229240" cy="858600"/>
          </a:xfrm>
        </p:spPr>
        <p:txBody>
          <a:bodyPr/>
          <a:lstStyle/>
          <a:p>
            <a:r>
              <a:rPr lang="en-US" sz="2000" b="1" dirty="0">
                <a:solidFill>
                  <a:schemeClr val="accent1"/>
                </a:solidFill>
              </a:rPr>
              <a:t>Full Transformer Best model Learning Curves (Perplexity)</a:t>
            </a:r>
          </a:p>
        </p:txBody>
      </p:sp>
      <p:pic>
        <p:nvPicPr>
          <p:cNvPr id="3" name="Picture 2">
            <a:extLst>
              <a:ext uri="{FF2B5EF4-FFF2-40B4-BE49-F238E27FC236}">
                <a16:creationId xmlns:a16="http://schemas.microsoft.com/office/drawing/2014/main" id="{5B0FF5D0-56DA-1F71-D8A7-71E6DEFABFBA}"/>
              </a:ext>
            </a:extLst>
          </p:cNvPr>
          <p:cNvPicPr>
            <a:picLocks noChangeAspect="1"/>
          </p:cNvPicPr>
          <p:nvPr/>
        </p:nvPicPr>
        <p:blipFill>
          <a:blip r:embed="rId2"/>
          <a:stretch>
            <a:fillRect/>
          </a:stretch>
        </p:blipFill>
        <p:spPr>
          <a:xfrm>
            <a:off x="1098550" y="687841"/>
            <a:ext cx="5438775" cy="4333875"/>
          </a:xfrm>
          <a:prstGeom prst="rect">
            <a:avLst/>
          </a:prstGeom>
        </p:spPr>
      </p:pic>
    </p:spTree>
    <p:extLst>
      <p:ext uri="{BB962C8B-B14F-4D97-AF65-F5344CB8AC3E}">
        <p14:creationId xmlns:p14="http://schemas.microsoft.com/office/powerpoint/2010/main" val="384629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CustomShape 1"/>
          <p:cNvSpPr/>
          <p:nvPr/>
        </p:nvSpPr>
        <p:spPr>
          <a:xfrm>
            <a:off x="312120" y="48960"/>
            <a:ext cx="8517960" cy="57024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lstStyle/>
          <a:p>
            <a:pPr>
              <a:lnSpc>
                <a:spcPct val="100000"/>
              </a:lnSpc>
            </a:pPr>
            <a:r>
              <a:rPr lang="en-US" sz="2000" b="1" strike="noStrike" spc="-1" dirty="0">
                <a:solidFill>
                  <a:srgbClr val="0070C0"/>
                </a:solidFill>
                <a:latin typeface="Arial"/>
                <a:ea typeface="Arial"/>
              </a:rPr>
              <a:t>Full Transformer Explanation – Best model </a:t>
            </a:r>
            <a:endParaRPr lang="en-US" sz="2000" b="1" strike="noStrike" spc="-1" dirty="0">
              <a:solidFill>
                <a:srgbClr val="0070C0"/>
              </a:solidFill>
              <a:latin typeface="Arial"/>
            </a:endParaRPr>
          </a:p>
        </p:txBody>
      </p:sp>
      <p:sp>
        <p:nvSpPr>
          <p:cNvPr id="131" name="CustomShape 2"/>
          <p:cNvSpPr/>
          <p:nvPr/>
        </p:nvSpPr>
        <p:spPr>
          <a:xfrm>
            <a:off x="287677" y="471930"/>
            <a:ext cx="8147406" cy="600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200" b="0" strike="noStrike" spc="-1" dirty="0">
                <a:solidFill>
                  <a:srgbClr val="595959"/>
                </a:solidFill>
                <a:latin typeface="Arial"/>
                <a:ea typeface="Arial"/>
              </a:rPr>
              <a:t>Explain what you did here and why you did it to improve your model performance.</a:t>
            </a:r>
            <a:endParaRPr lang="en-US" sz="1200" b="0" strike="noStrike" spc="-1" dirty="0">
              <a:latin typeface="Arial"/>
            </a:endParaRPr>
          </a:p>
        </p:txBody>
      </p:sp>
      <p:sp>
        <p:nvSpPr>
          <p:cNvPr id="2" name="TextBox 1">
            <a:extLst>
              <a:ext uri="{FF2B5EF4-FFF2-40B4-BE49-F238E27FC236}">
                <a16:creationId xmlns:a16="http://schemas.microsoft.com/office/drawing/2014/main" id="{EBE11AE0-9201-7723-9CD9-01CFD541F271}"/>
              </a:ext>
            </a:extLst>
          </p:cNvPr>
          <p:cNvSpPr txBox="1"/>
          <p:nvPr/>
        </p:nvSpPr>
        <p:spPr>
          <a:xfrm>
            <a:off x="344160" y="885645"/>
            <a:ext cx="8517960" cy="3231654"/>
          </a:xfrm>
          <a:prstGeom prst="rect">
            <a:avLst/>
          </a:prstGeom>
          <a:noFill/>
        </p:spPr>
        <p:txBody>
          <a:bodyPr wrap="square" rtlCol="0">
            <a:spAutoFit/>
          </a:bodyPr>
          <a:lstStyle/>
          <a:p>
            <a:r>
              <a:rPr lang="en-US" sz="1200" b="1" u="sng" dirty="0"/>
              <a:t>The best model is a full Transformer with tuned hyperparameters</a:t>
            </a:r>
            <a:r>
              <a:rPr lang="en-US" sz="1200" dirty="0"/>
              <a:t>: </a:t>
            </a:r>
          </a:p>
          <a:p>
            <a:r>
              <a:rPr lang="en-US" sz="1200" dirty="0" err="1"/>
              <a:t>hidden_dim</a:t>
            </a:r>
            <a:r>
              <a:rPr lang="en-US" sz="1200" dirty="0"/>
              <a:t> = 256, </a:t>
            </a:r>
            <a:r>
              <a:rPr lang="en-US" sz="1200" dirty="0" err="1"/>
              <a:t>num_heads</a:t>
            </a:r>
            <a:r>
              <a:rPr lang="en-US" sz="1200" dirty="0"/>
              <a:t> = 4, </a:t>
            </a:r>
            <a:r>
              <a:rPr lang="en-US" sz="1200" dirty="0" err="1"/>
              <a:t>dim_feedforward</a:t>
            </a:r>
            <a:r>
              <a:rPr lang="en-US" sz="1200" dirty="0"/>
              <a:t> = 1024, </a:t>
            </a:r>
            <a:r>
              <a:rPr lang="en-US" sz="1200" dirty="0" err="1"/>
              <a:t>learning_rate</a:t>
            </a:r>
            <a:r>
              <a:rPr lang="en-US" sz="1200" dirty="0"/>
              <a:t> = 5e-4, and epochs = 15. </a:t>
            </a:r>
          </a:p>
          <a:p>
            <a:pPr marL="171450" indent="-171450">
              <a:buFont typeface="Wingdings" panose="05000000000000000000" pitchFamily="2" charset="2"/>
              <a:buChar char="Ø"/>
            </a:pPr>
            <a:r>
              <a:rPr lang="en-US" sz="1200" dirty="0"/>
              <a:t>Compared with the default full Transformer, the tuned model achieves a slightly lower </a:t>
            </a:r>
            <a:r>
              <a:rPr lang="en-US" sz="1200" b="1" dirty="0"/>
              <a:t>validation loss</a:t>
            </a:r>
            <a:r>
              <a:rPr lang="en-US" sz="1200" dirty="0"/>
              <a:t> and </a:t>
            </a:r>
            <a:r>
              <a:rPr lang="en-US" sz="1200" b="1" dirty="0"/>
              <a:t>validation perplexity</a:t>
            </a:r>
            <a:r>
              <a:rPr lang="en-US" sz="1200" dirty="0"/>
              <a:t>, indicating a small but meaningful improvement in generalization performance.</a:t>
            </a:r>
          </a:p>
          <a:p>
            <a:endParaRPr lang="en-US" sz="1200" dirty="0"/>
          </a:p>
          <a:p>
            <a:pPr marL="171450" indent="-171450">
              <a:buFont typeface="Wingdings" panose="05000000000000000000" pitchFamily="2" charset="2"/>
              <a:buChar char="Ø"/>
            </a:pPr>
            <a:r>
              <a:rPr lang="en-US" sz="1200" dirty="0"/>
              <a:t>First, I increased the hidden dimension and feedforward dimension, which gave the Transformer greater representational capacity to learn richer contextual features from the input sequence. </a:t>
            </a:r>
          </a:p>
          <a:p>
            <a:pPr marL="171450" indent="-171450">
              <a:buFont typeface="Wingdings" panose="05000000000000000000" pitchFamily="2" charset="2"/>
              <a:buChar char="Ø"/>
            </a:pPr>
            <a:r>
              <a:rPr lang="en-US" sz="1200" dirty="0"/>
              <a:t>I chose 4 attention heads, which provides a good balance between multi-head attention diversity and computational efficiency. </a:t>
            </a:r>
          </a:p>
          <a:p>
            <a:pPr marL="171450" indent="-171450">
              <a:buFont typeface="Wingdings" panose="05000000000000000000" pitchFamily="2" charset="2"/>
              <a:buChar char="Ø"/>
            </a:pPr>
            <a:r>
              <a:rPr lang="en-US" sz="1200" dirty="0"/>
              <a:t>I also reduced the learning rate to 5e-4, which makes optimization more stable and helps the model converge more smoothly.</a:t>
            </a:r>
          </a:p>
          <a:p>
            <a:endParaRPr lang="en-US" sz="1200" u="sng" dirty="0"/>
          </a:p>
          <a:p>
            <a:r>
              <a:rPr lang="en-US" sz="1200" b="1" u="sng" dirty="0"/>
              <a:t>Performance explanation:</a:t>
            </a:r>
            <a:r>
              <a:rPr lang="en-US" sz="1200" u="sng" dirty="0"/>
              <a:t> </a:t>
            </a:r>
            <a:r>
              <a:rPr lang="en-US" sz="1200" dirty="0"/>
              <a:t>The tuned model does not greatly reduce training loss compared with the default full Transformer, but it achieves a slightly better validation result. This suggests that the hyperparameter changes mainly improved </a:t>
            </a:r>
            <a:r>
              <a:rPr lang="en-US" sz="1200" b="1" dirty="0"/>
              <a:t>generalization</a:t>
            </a:r>
            <a:r>
              <a:rPr lang="en-US" sz="1200" dirty="0"/>
              <a:t> rather than simply making the model fit the training data more aggressively. Overall, the results show that the full Transformer is substantially stronger than the encoder-only version, and careful tuning further improves its validation performance.</a:t>
            </a: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2" name="Table 1"/>
          <p:cNvGraphicFramePr/>
          <p:nvPr>
            <p:extLst>
              <p:ext uri="{D42A27DB-BD31-4B8C-83A1-F6EECF244321}">
                <p14:modId xmlns:p14="http://schemas.microsoft.com/office/powerpoint/2010/main" val="3775490779"/>
              </p:ext>
            </p:extLst>
          </p:nvPr>
        </p:nvGraphicFramePr>
        <p:xfrm>
          <a:off x="0" y="752327"/>
          <a:ext cx="9144000" cy="3974377"/>
        </p:xfrm>
        <a:graphic>
          <a:graphicData uri="http://schemas.openxmlformats.org/drawingml/2006/table">
            <a:tbl>
              <a:tblPr/>
              <a:tblGrid>
                <a:gridCol w="4571280">
                  <a:extLst>
                    <a:ext uri="{9D8B030D-6E8A-4147-A177-3AD203B41FA5}">
                      <a16:colId xmlns:a16="http://schemas.microsoft.com/office/drawing/2014/main" val="20000"/>
                    </a:ext>
                  </a:extLst>
                </a:gridCol>
                <a:gridCol w="4572720">
                  <a:extLst>
                    <a:ext uri="{9D8B030D-6E8A-4147-A177-3AD203B41FA5}">
                      <a16:colId xmlns:a16="http://schemas.microsoft.com/office/drawing/2014/main" val="20001"/>
                    </a:ext>
                  </a:extLst>
                </a:gridCol>
              </a:tblGrid>
              <a:tr h="347760">
                <a:tc>
                  <a:txBody>
                    <a:bodyPr/>
                    <a:lstStyle/>
                    <a:p>
                      <a:pPr>
                        <a:lnSpc>
                          <a:spcPct val="100000"/>
                        </a:lnSpc>
                      </a:pPr>
                      <a:r>
                        <a:rPr lang="en-US" sz="1800" b="0" strike="noStrike" spc="-1" dirty="0">
                          <a:latin typeface="Arial"/>
                        </a:rPr>
                        <a:t>True Translation</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pPr>
                        <a:lnSpc>
                          <a:spcPct val="100000"/>
                        </a:lnSpc>
                      </a:pPr>
                      <a:r>
                        <a:rPr lang="en-US" sz="1800" b="0" strike="noStrike" spc="-1" dirty="0">
                          <a:latin typeface="Arial"/>
                        </a:rPr>
                        <a:t>Predicted Translation</a:t>
                      </a:r>
                    </a:p>
                  </a:txBody>
                  <a:tcPr marL="90000" marR="90000">
                    <a:lnL w="720">
                      <a:solidFill>
                        <a:srgbClr val="FFFFFF"/>
                      </a:solidFill>
                    </a:lnL>
                    <a:lnR w="720">
                      <a:solidFill>
                        <a:srgbClr val="FFFFFF"/>
                      </a:solidFill>
                    </a:lnR>
                    <a:lnT w="720">
                      <a:solidFill>
                        <a:srgbClr val="FFFFFF"/>
                      </a:solidFill>
                    </a:lnT>
                    <a:lnB w="720" cap="flat" cmpd="sng" algn="ctr">
                      <a:solidFill>
                        <a:srgbClr val="FFFFFF"/>
                      </a:solidFill>
                      <a:prstDash val="solid"/>
                      <a:round/>
                      <a:headEnd type="none" w="med" len="med"/>
                      <a:tailEnd type="none" w="med" len="med"/>
                    </a:lnB>
                    <a:solidFill>
                      <a:srgbClr val="B3B3B3"/>
                    </a:solidFill>
                  </a:tcPr>
                </a:tc>
                <a:extLst>
                  <a:ext uri="{0D108BD9-81ED-4DB2-BD59-A6C34878D82A}">
                    <a16:rowId xmlns:a16="http://schemas.microsoft.com/office/drawing/2014/main" val="10000"/>
                  </a:ext>
                </a:extLst>
              </a:tr>
              <a:tr h="247320">
                <a:tc>
                  <a:txBody>
                    <a:bodyPr/>
                    <a:lstStyle/>
                    <a:p>
                      <a:pPr>
                        <a:lnSpc>
                          <a:spcPct val="100000"/>
                        </a:lnSpc>
                      </a:pPr>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'man', 'in', 'an', 'orange', 'hat', 'starring', 'at', 'something',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 '&lt;pad&gt;'</a:t>
                      </a:r>
                      <a:endParaRPr lang="en-US" sz="1100" b="0" strike="noStrike" spc="-1" dirty="0">
                        <a:latin typeface="Arial"/>
                      </a:endParaRPr>
                    </a:p>
                  </a:txBody>
                  <a:tcPr marL="90000" marR="90000">
                    <a:lnL w="720">
                      <a:solidFill>
                        <a:srgbClr val="FFFFFF"/>
                      </a:solidFill>
                    </a:lnL>
                    <a:lnR w="720" cap="flat" cmpd="sng" algn="ctr">
                      <a:solidFill>
                        <a:srgbClr val="FFFFFF"/>
                      </a:solidFill>
                      <a:prstDash val="solid"/>
                      <a:round/>
                      <a:headEnd type="none" w="med" len="med"/>
                      <a:tailEnd type="none" w="med" len="med"/>
                    </a:lnR>
                    <a:lnT w="720">
                      <a:solidFill>
                        <a:srgbClr val="FFFFFF"/>
                      </a:solidFill>
                    </a:lnT>
                    <a:lnB w="720">
                      <a:solidFill>
                        <a:srgbClr val="FFFFFF"/>
                      </a:solidFill>
                    </a:lnB>
                    <a:solidFill>
                      <a:srgbClr val="CCCCCC"/>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'man', 'in', 'an', 'orange', 'hat', 'hat', 'something', 'something', 'something',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1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1"/>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a:t>
                      </a:r>
                      <a:r>
                        <a:rPr lang="en-US" sz="1100" b="0" i="0" kern="1200" dirty="0" err="1">
                          <a:solidFill>
                            <a:schemeClr val="tx1"/>
                          </a:solidFill>
                          <a:effectLst/>
                          <a:latin typeface="+mn-lt"/>
                          <a:ea typeface="+mn-ea"/>
                          <a:cs typeface="+mn-cs"/>
                        </a:rPr>
                        <a:t>boston</a:t>
                      </a:r>
                      <a:r>
                        <a:rPr lang="en-US" sz="1100" b="0" i="0" kern="1200" dirty="0">
                          <a:solidFill>
                            <a:schemeClr val="tx1"/>
                          </a:solidFill>
                          <a:effectLst/>
                          <a:latin typeface="+mn-lt"/>
                          <a:ea typeface="+mn-ea"/>
                          <a:cs typeface="+mn-cs"/>
                        </a:rPr>
                        <a:t>', 'terrier', 'is', 'running', 'on', 'lush', 'green', 'grass', 'in', 'front', 'of', 'a', 'white', 'fence',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100" dirty="0"/>
                    </a:p>
                  </a:txBody>
                  <a:tcPr marL="90000" marR="90000">
                    <a:lnL w="720">
                      <a:solidFill>
                        <a:srgbClr val="FFFFFF"/>
                      </a:solidFill>
                    </a:lnL>
                    <a:lnR w="720" cap="flat" cmpd="sng" algn="ctr">
                      <a:solidFill>
                        <a:srgbClr val="FFFFFF"/>
                      </a:solidFill>
                      <a:prstDash val="solid"/>
                      <a:round/>
                      <a:headEnd type="none" w="med" len="med"/>
                      <a:tailEnd type="none" w="med" len="med"/>
                    </a:lnR>
                    <a:lnT w="720">
                      <a:solidFill>
                        <a:srgbClr val="FFFFFF"/>
                      </a:solidFill>
                    </a:lnT>
                    <a:lnB w="720">
                      <a:solidFill>
                        <a:srgbClr val="FFFFFF"/>
                      </a:solidFill>
                    </a:lnB>
                    <a:solidFill>
                      <a:srgbClr val="E6E6E6"/>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a:t>
                      </a:r>
                      <a:r>
                        <a:rPr lang="en-US" sz="1100" b="0" i="0" kern="1200" dirty="0" err="1">
                          <a:solidFill>
                            <a:schemeClr val="tx1"/>
                          </a:solidFill>
                          <a:effectLst/>
                          <a:latin typeface="+mn-lt"/>
                          <a:ea typeface="+mn-ea"/>
                          <a:cs typeface="+mn-cs"/>
                        </a:rPr>
                        <a:t>boston</a:t>
                      </a:r>
                      <a:r>
                        <a:rPr lang="en-US" sz="1100" b="0" i="0" kern="1200" dirty="0">
                          <a:solidFill>
                            <a:schemeClr val="tx1"/>
                          </a:solidFill>
                          <a:effectLst/>
                          <a:latin typeface="+mn-lt"/>
                          <a:ea typeface="+mn-ea"/>
                          <a:cs typeface="+mn-cs"/>
                        </a:rPr>
                        <a:t>', 'vendor', 'runs', 'walking', 'grass', 'green', 'grass', 'grass', 'of', 'of', 'of', 'fence', 'fence', 'fence',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1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2"/>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'girl', 'in', 'karate', 'uniform', 'breaking', 'a', 'stick', 'with', 'a', 'front', 'kick',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100" dirty="0"/>
                    </a:p>
                  </a:txBody>
                  <a:tcPr marL="90000" marR="90000">
                    <a:lnL w="720">
                      <a:solidFill>
                        <a:srgbClr val="FFFFFF"/>
                      </a:solidFill>
                    </a:lnL>
                    <a:lnR w="720" cap="flat" cmpd="sng" algn="ctr">
                      <a:solidFill>
                        <a:srgbClr val="FFFFFF"/>
                      </a:solidFill>
                      <a:prstDash val="solid"/>
                      <a:round/>
                      <a:headEnd type="none" w="med" len="med"/>
                      <a:tailEnd type="none" w="med" len="med"/>
                    </a:lnR>
                    <a:lnT w="720">
                      <a:solidFill>
                        <a:srgbClr val="FFFFFF"/>
                      </a:solidFill>
                    </a:lnT>
                    <a:lnB w="720">
                      <a:solidFill>
                        <a:srgbClr val="FFFFFF"/>
                      </a:solidFill>
                    </a:lnB>
                    <a:solidFill>
                      <a:srgbClr val="CCCCCC"/>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'girl', 'in', 'a', 'a', 'green', 'with', 'a', 'a', 'a', 'a',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1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3"/>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'five', 'people', 'wearing', 'winter', 'jackets', 'and', 'helmets', 'stand', 'in', 'the', 'snow', 'with', '&lt;</a:t>
                      </a:r>
                      <a:r>
                        <a:rPr lang="en-US" sz="1100" b="0" i="0" kern="1200" dirty="0" err="1">
                          <a:solidFill>
                            <a:schemeClr val="tx1"/>
                          </a:solidFill>
                          <a:effectLst/>
                          <a:latin typeface="+mn-lt"/>
                          <a:ea typeface="+mn-ea"/>
                          <a:cs typeface="+mn-cs"/>
                        </a:rPr>
                        <a:t>unk</a:t>
                      </a:r>
                      <a:r>
                        <a:rPr lang="en-US" sz="1100" b="0" i="0" kern="1200" dirty="0">
                          <a:solidFill>
                            <a:schemeClr val="tx1"/>
                          </a:solidFill>
                          <a:effectLst/>
                          <a:latin typeface="+mn-lt"/>
                          <a:ea typeface="+mn-ea"/>
                          <a:cs typeface="+mn-cs"/>
                        </a:rPr>
                        <a:t>&gt;', 'in', 'the', 'background',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100" dirty="0"/>
                    </a:p>
                  </a:txBody>
                  <a:tcPr marL="90000" marR="90000">
                    <a:lnL w="720">
                      <a:solidFill>
                        <a:srgbClr val="FFFFFF"/>
                      </a:solidFill>
                    </a:lnL>
                    <a:lnR w="720" cap="flat" cmpd="sng" algn="ctr">
                      <a:solidFill>
                        <a:srgbClr val="FFFFFF"/>
                      </a:solidFill>
                      <a:prstDash val="solid"/>
                      <a:round/>
                      <a:headEnd type="none" w="med" len="med"/>
                      <a:tailEnd type="none" w="med" len="med"/>
                    </a:lnR>
                    <a:lnT w="720">
                      <a:solidFill>
                        <a:srgbClr val="FFFFFF"/>
                      </a:solidFill>
                    </a:lnT>
                    <a:lnB w="720">
                      <a:solidFill>
                        <a:srgbClr val="FFFFFF"/>
                      </a:solidFill>
                    </a:lnB>
                    <a:solidFill>
                      <a:srgbClr val="E6E6E6"/>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'five', 'people', 'in', 'in', 'and', 'helmets', 'helmets', 'with', 'helmets', 'the', 'snow', 'in', 'in', 'in', 'in',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1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4"/>
                  </a:ext>
                </a:extLst>
              </a:tr>
              <a:tr h="309719">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'people', 'are', 'fixing', 'the', 'roof', 'of', 'a', 'house',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100" dirty="0"/>
                    </a:p>
                  </a:txBody>
                  <a:tcPr marL="90000" marR="90000">
                    <a:lnL w="720">
                      <a:solidFill>
                        <a:srgbClr val="FFFFFF"/>
                      </a:solidFill>
                    </a:lnL>
                    <a:lnR w="720" cap="flat" cmpd="sng" algn="ctr">
                      <a:solidFill>
                        <a:srgbClr val="FFFFFF"/>
                      </a:solidFill>
                      <a:prstDash val="solid"/>
                      <a:round/>
                      <a:headEnd type="none" w="med" len="med"/>
                      <a:tailEnd type="none" w="med" len="med"/>
                    </a:lnR>
                    <a:lnT w="720">
                      <a:solidFill>
                        <a:srgbClr val="FFFFFF"/>
                      </a:solidFill>
                    </a:lnT>
                    <a:lnB w="720">
                      <a:solidFill>
                        <a:srgbClr val="FFFFFF"/>
                      </a:solidFill>
                    </a:lnB>
                    <a:solidFill>
                      <a:srgbClr val="CCCCCC"/>
                    </a:solidFill>
                  </a:tcPr>
                </a:tc>
                <a:tc>
                  <a:txBody>
                    <a:bodyPr/>
                    <a:lstStyle/>
                    <a:p>
                      <a:r>
                        <a:rPr lang="en-US" sz="1100" dirty="0"/>
                        <a:t>'&lt;</a:t>
                      </a:r>
                      <a:r>
                        <a:rPr lang="en-US" sz="1100" dirty="0" err="1"/>
                        <a:t>sos</a:t>
                      </a:r>
                      <a:r>
                        <a:rPr lang="en-US" sz="1100" dirty="0"/>
                        <a:t>&gt;', 'people', 'are', 'starting', 'the', 'a', 'the', '&lt;</a:t>
                      </a:r>
                      <a:r>
                        <a:rPr lang="en-US" sz="1100" dirty="0" err="1"/>
                        <a:t>eos</a:t>
                      </a:r>
                      <a:r>
                        <a:rPr lang="en-US" sz="1100" dirty="0"/>
                        <a:t>&gt;'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5"/>
                  </a:ext>
                </a:extLst>
              </a:tr>
              <a:tr h="23022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'group', 'of', 'people', 'standing', 'in', 'front', 'of', 'an', 'igloo',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100" dirty="0"/>
                    </a:p>
                  </a:txBody>
                  <a:tcPr marL="90000" marR="90000">
                    <a:lnL w="720">
                      <a:solidFill>
                        <a:srgbClr val="FFFFFF"/>
                      </a:solidFill>
                    </a:lnL>
                    <a:lnR w="720" cap="flat" cmpd="sng" algn="ctr">
                      <a:solidFill>
                        <a:srgbClr val="FFFFFF"/>
                      </a:solidFill>
                      <a:prstDash val="solid"/>
                      <a:round/>
                      <a:headEnd type="none" w="med" len="med"/>
                      <a:tailEnd type="none" w="med" len="med"/>
                    </a:lnR>
                    <a:lnT w="720">
                      <a:solidFill>
                        <a:srgbClr val="FFFFFF"/>
                      </a:solidFill>
                    </a:lnT>
                    <a:lnB w="720">
                      <a:solidFill>
                        <a:srgbClr val="FFFFFF"/>
                      </a:solidFill>
                    </a:lnB>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'group', 'of', 'people', 'standing', 'standing', 'in', 'a',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1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6"/>
                  </a:ext>
                </a:extLst>
              </a:tr>
              <a:tr h="301658">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'guy', 'works', 'on', 'a', 'building',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100" dirty="0"/>
                    </a:p>
                  </a:txBody>
                  <a:tcPr marL="90000" marR="90000">
                    <a:lnL w="720">
                      <a:solidFill>
                        <a:srgbClr val="FFFFFF"/>
                      </a:solidFill>
                    </a:lnL>
                    <a:lnR w="720" cap="flat" cmpd="sng" algn="ctr">
                      <a:solidFill>
                        <a:srgbClr val="FFFFFF"/>
                      </a:solidFill>
                      <a:prstDash val="solid"/>
                      <a:round/>
                      <a:headEnd type="none" w="med" len="med"/>
                      <a:tailEnd type="none" w="med" len="med"/>
                    </a:lnR>
                    <a:lnT w="720">
                      <a:solidFill>
                        <a:srgbClr val="FFFFFF"/>
                      </a:solidFill>
                    </a:lnT>
                    <a:lnB w="720">
                      <a:solidFill>
                        <a:srgbClr val="FFFFFF"/>
                      </a:solidFill>
                    </a:lnB>
                    <a:solidFill>
                      <a:srgbClr val="CCCCCC"/>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'guy', 'is', 'on', 'a', 'building', 'building',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1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7"/>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'man', 'in', 'a', 'vest', 'is', 'sitting', 'in', 'a', 'chair', 'and', 'holding', 'magazines',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1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'man', 'in', 'a', 'vest', 'vest', 'on', 'on', 'a', 'chair', 'a', 'holding',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100" dirty="0"/>
                    </a:p>
                  </a:txBody>
                  <a:tcPr marL="90000" marR="90000">
                    <a:lnL w="720">
                      <a:solidFill>
                        <a:srgbClr val="FFFFFF"/>
                      </a:solidFill>
                    </a:lnL>
                    <a:lnR w="720">
                      <a:solidFill>
                        <a:srgbClr val="FFFFFF"/>
                      </a:solidFill>
                    </a:lnR>
                    <a:lnT w="720" cap="flat" cmpd="sng" algn="ctr">
                      <a:solidFill>
                        <a:srgbClr val="FFFFFF"/>
                      </a:solidFill>
                      <a:prstDash val="solid"/>
                      <a:round/>
                      <a:headEnd type="none" w="med" len="med"/>
                      <a:tailEnd type="none" w="med" len="med"/>
                    </a:lnT>
                    <a:lnB w="720">
                      <a:solidFill>
                        <a:srgbClr val="FFFFFF"/>
                      </a:solidFill>
                    </a:lnB>
                    <a:solidFill>
                      <a:srgbClr val="E6E6E6"/>
                    </a:solidFill>
                  </a:tcPr>
                </a:tc>
                <a:extLst>
                  <a:ext uri="{0D108BD9-81ED-4DB2-BD59-A6C34878D82A}">
                    <a16:rowId xmlns:a16="http://schemas.microsoft.com/office/drawing/2014/main" val="10008"/>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'mother', 'and', 'her', 'young', 'song', 'enjoying', 'a', 'beautiful', 'day', 'outside',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1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'mother', 'and', 'her', 'small', 'son', 'son', 'a',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 'day', 'day',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1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9"/>
                  </a:ext>
                </a:extLst>
              </a:tr>
            </a:tbl>
          </a:graphicData>
        </a:graphic>
      </p:graphicFrame>
      <p:sp>
        <p:nvSpPr>
          <p:cNvPr id="133" name="CustomShape 2"/>
          <p:cNvSpPr/>
          <p:nvPr/>
        </p:nvSpPr>
        <p:spPr>
          <a:xfrm>
            <a:off x="3909600" y="4773960"/>
            <a:ext cx="1002240" cy="36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dirty="0">
                <a:solidFill>
                  <a:srgbClr val="000000"/>
                </a:solidFill>
                <a:latin typeface="Arial"/>
                <a:ea typeface="DejaVu Sans"/>
              </a:rPr>
              <a:t>Table 1</a:t>
            </a:r>
            <a:endParaRPr lang="en-US" sz="1800" b="0" strike="noStrike" spc="-1" dirty="0">
              <a:latin typeface="Arial"/>
            </a:endParaRPr>
          </a:p>
        </p:txBody>
      </p:sp>
      <p:sp>
        <p:nvSpPr>
          <p:cNvPr id="134" name="CustomShape 3"/>
          <p:cNvSpPr/>
          <p:nvPr/>
        </p:nvSpPr>
        <p:spPr>
          <a:xfrm>
            <a:off x="312120" y="-2410"/>
            <a:ext cx="8517960" cy="57024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lstStyle/>
          <a:p>
            <a:pPr>
              <a:lnSpc>
                <a:spcPct val="100000"/>
              </a:lnSpc>
            </a:pPr>
            <a:r>
              <a:rPr lang="en-US" sz="2000" b="1" strike="noStrike" spc="-1" dirty="0">
                <a:solidFill>
                  <a:srgbClr val="0070C0"/>
                </a:solidFill>
                <a:latin typeface="Arial"/>
                <a:ea typeface="Arial"/>
              </a:rPr>
              <a:t>Transformer (Encoder Only)  Translation Results (default settings) </a:t>
            </a:r>
            <a:endParaRPr lang="en-US" sz="2000" b="1" strike="noStrike" spc="-1" dirty="0">
              <a:solidFill>
                <a:srgbClr val="0070C0"/>
              </a:solidFill>
              <a:latin typeface="Arial"/>
            </a:endParaRPr>
          </a:p>
        </p:txBody>
      </p:sp>
      <p:sp>
        <p:nvSpPr>
          <p:cNvPr id="135" name="CustomShape 4"/>
          <p:cNvSpPr/>
          <p:nvPr/>
        </p:nvSpPr>
        <p:spPr>
          <a:xfrm>
            <a:off x="328773" y="349100"/>
            <a:ext cx="7314387" cy="600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200" b="0" strike="noStrike" spc="-1" dirty="0">
                <a:solidFill>
                  <a:srgbClr val="595959"/>
                </a:solidFill>
                <a:latin typeface="Arial"/>
                <a:ea typeface="Arial"/>
              </a:rPr>
              <a:t>Put translation results for your model (1</a:t>
            </a:r>
            <a:r>
              <a:rPr lang="en-US" sz="1200" b="0" strike="noStrike" spc="-1" baseline="101000" dirty="0">
                <a:solidFill>
                  <a:srgbClr val="595959"/>
                </a:solidFill>
                <a:latin typeface="Arial"/>
                <a:ea typeface="Arial"/>
              </a:rPr>
              <a:t>st</a:t>
            </a:r>
            <a:r>
              <a:rPr lang="en-US" sz="1200" b="0" strike="noStrike" spc="-1" dirty="0">
                <a:solidFill>
                  <a:srgbClr val="595959"/>
                </a:solidFill>
                <a:latin typeface="Arial"/>
                <a:ea typeface="Arial"/>
              </a:rPr>
              <a:t> 9 sentences) here. You may remove duplicate &lt;pad&gt; and &lt;</a:t>
            </a:r>
            <a:r>
              <a:rPr lang="en-US" sz="1200" b="0" strike="noStrike" spc="-1" dirty="0" err="1">
                <a:solidFill>
                  <a:srgbClr val="595959"/>
                </a:solidFill>
                <a:latin typeface="Arial"/>
                <a:ea typeface="Arial"/>
              </a:rPr>
              <a:t>eos</a:t>
            </a:r>
            <a:r>
              <a:rPr lang="en-US" sz="1200" b="0" strike="noStrike" spc="-1" dirty="0">
                <a:solidFill>
                  <a:srgbClr val="595959"/>
                </a:solidFill>
                <a:latin typeface="Arial"/>
                <a:ea typeface="Arial"/>
              </a:rPr>
              <a:t>&gt; tokens for each sentence.</a:t>
            </a:r>
            <a:endParaRPr lang="en-US" sz="1200" b="0" strike="noStrike" spc="-1" dirty="0">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2" name="Table 1"/>
          <p:cNvGraphicFramePr/>
          <p:nvPr>
            <p:extLst>
              <p:ext uri="{D42A27DB-BD31-4B8C-83A1-F6EECF244321}">
                <p14:modId xmlns:p14="http://schemas.microsoft.com/office/powerpoint/2010/main" val="1790139966"/>
              </p:ext>
            </p:extLst>
          </p:nvPr>
        </p:nvGraphicFramePr>
        <p:xfrm>
          <a:off x="0" y="752327"/>
          <a:ext cx="9144000" cy="3936043"/>
        </p:xfrm>
        <a:graphic>
          <a:graphicData uri="http://schemas.openxmlformats.org/drawingml/2006/table">
            <a:tbl>
              <a:tblPr/>
              <a:tblGrid>
                <a:gridCol w="4571280">
                  <a:extLst>
                    <a:ext uri="{9D8B030D-6E8A-4147-A177-3AD203B41FA5}">
                      <a16:colId xmlns:a16="http://schemas.microsoft.com/office/drawing/2014/main" val="20000"/>
                    </a:ext>
                  </a:extLst>
                </a:gridCol>
                <a:gridCol w="4572720">
                  <a:extLst>
                    <a:ext uri="{9D8B030D-6E8A-4147-A177-3AD203B41FA5}">
                      <a16:colId xmlns:a16="http://schemas.microsoft.com/office/drawing/2014/main" val="20001"/>
                    </a:ext>
                  </a:extLst>
                </a:gridCol>
              </a:tblGrid>
              <a:tr h="347760">
                <a:tc>
                  <a:txBody>
                    <a:bodyPr/>
                    <a:lstStyle/>
                    <a:p>
                      <a:pPr>
                        <a:lnSpc>
                          <a:spcPct val="100000"/>
                        </a:lnSpc>
                      </a:pPr>
                      <a:r>
                        <a:rPr lang="en-US" sz="1800" b="0" strike="noStrike" spc="-1" dirty="0">
                          <a:latin typeface="+mn-lt"/>
                        </a:rPr>
                        <a:t>True Translation</a:t>
                      </a:r>
                      <a:endParaRPr lang="en-US" sz="1800" b="0" strike="noStrike" spc="-1" dirty="0">
                        <a:latin typeface="Arial"/>
                      </a:endParaRPr>
                    </a:p>
                  </a:txBody>
                  <a:tcPr marL="90000" marR="90000">
                    <a:lnL w="720">
                      <a:solidFill>
                        <a:srgbClr val="FFFFFF"/>
                      </a:solidFill>
                    </a:lnL>
                    <a:lnR w="720">
                      <a:solidFill>
                        <a:srgbClr val="FFFFFF"/>
                      </a:solidFill>
                    </a:lnR>
                    <a:lnT w="720">
                      <a:solidFill>
                        <a:srgbClr val="FFFFFF"/>
                      </a:solidFill>
                    </a:lnT>
                    <a:lnB w="720" cap="flat" cmpd="sng" algn="ctr">
                      <a:solidFill>
                        <a:srgbClr val="FFFFFF"/>
                      </a:solidFill>
                      <a:prstDash val="solid"/>
                      <a:round/>
                      <a:headEnd type="none" w="med" len="med"/>
                      <a:tailEnd type="none" w="med" len="med"/>
                    </a:lnB>
                    <a:solidFill>
                      <a:srgbClr val="B3B3B3"/>
                    </a:solidFill>
                  </a:tcPr>
                </a:tc>
                <a:tc>
                  <a:txBody>
                    <a:bodyPr/>
                    <a:lstStyle/>
                    <a:p>
                      <a:pPr>
                        <a:lnSpc>
                          <a:spcPct val="100000"/>
                        </a:lnSpc>
                      </a:pPr>
                      <a:r>
                        <a:rPr lang="en-US" sz="1800" b="0" strike="noStrike" spc="-1" dirty="0">
                          <a:latin typeface="+mn-lt"/>
                        </a:rPr>
                        <a:t>Predicted Translation</a:t>
                      </a:r>
                      <a:endParaRPr lang="en-US" sz="1800" b="0" strike="noStrike" spc="-1" dirty="0">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extLst>
                  <a:ext uri="{0D108BD9-81ED-4DB2-BD59-A6C34878D82A}">
                    <a16:rowId xmlns:a16="http://schemas.microsoft.com/office/drawing/2014/main" val="10000"/>
                  </a:ext>
                </a:extLst>
              </a:tr>
              <a:tr h="247320">
                <a:tc>
                  <a:txBody>
                    <a:bodyPr/>
                    <a:lstStyle/>
                    <a:p>
                      <a:pPr>
                        <a:lnSpc>
                          <a:spcPct val="100000"/>
                        </a:lnSpc>
                      </a:pPr>
                      <a:r>
                        <a:rPr lang="en-US" sz="1100" b="0" strike="noStrike" spc="-1" dirty="0">
                          <a:latin typeface="Times New Roman"/>
                        </a:rPr>
                        <a:t>'&lt;</a:t>
                      </a:r>
                      <a:r>
                        <a:rPr lang="en-US" sz="1100" b="0" strike="noStrike" spc="-1" dirty="0" err="1">
                          <a:latin typeface="Times New Roman"/>
                        </a:rPr>
                        <a:t>sos</a:t>
                      </a:r>
                      <a:r>
                        <a:rPr lang="en-US" sz="1100" b="0" strike="noStrike" spc="-1" dirty="0">
                          <a:latin typeface="Times New Roman"/>
                        </a:rPr>
                        <a:t>&gt;', 'a', 'man', 'in', 'an', 'orange', 'hat', 'starring’,  'at', 'something', '&lt;</a:t>
                      </a:r>
                      <a:r>
                        <a:rPr lang="en-US" sz="1100" b="0" strike="noStrike" spc="-1" dirty="0" err="1">
                          <a:latin typeface="Times New Roman"/>
                        </a:rPr>
                        <a:t>eos</a:t>
                      </a:r>
                      <a:r>
                        <a:rPr lang="en-US" sz="1100" b="0" strike="noStrike" spc="-1" dirty="0">
                          <a:latin typeface="Times New Roman"/>
                        </a:rPr>
                        <a:t>&gt;'</a:t>
                      </a:r>
                      <a:endParaRPr lang="en-US" sz="1100" b="0" strike="noStrike" spc="-1" dirty="0">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pPr>
                        <a:lnSpc>
                          <a:spcPct val="100000"/>
                        </a:lnSpc>
                      </a:pPr>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'man', 'in', 'an', 'orange', 'hat', 'is', 'fixing', 'something',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b="0" strike="noStrike" spc="-1" dirty="0">
                        <a:latin typeface="Arial"/>
                      </a:endParaRPr>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1"/>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a:t>
                      </a:r>
                      <a:r>
                        <a:rPr lang="en-US" sz="1100" b="0" i="0" kern="1200" dirty="0" err="1">
                          <a:solidFill>
                            <a:schemeClr val="tx1"/>
                          </a:solidFill>
                          <a:effectLst/>
                          <a:latin typeface="+mn-lt"/>
                          <a:ea typeface="+mn-ea"/>
                          <a:cs typeface="+mn-cs"/>
                        </a:rPr>
                        <a:t>boston</a:t>
                      </a:r>
                      <a:r>
                        <a:rPr lang="en-US" sz="1100" b="0" i="0" kern="1200" dirty="0">
                          <a:solidFill>
                            <a:schemeClr val="tx1"/>
                          </a:solidFill>
                          <a:effectLst/>
                          <a:latin typeface="+mn-lt"/>
                          <a:ea typeface="+mn-ea"/>
                          <a:cs typeface="+mn-cs"/>
                        </a:rPr>
                        <a:t>', 'terrier', 'is', 'running', 'on', 'lush', 'green', 'grass', 'in', 'front', 'of', 'a', 'white', 'fence',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a:t>
                      </a:r>
                      <a:r>
                        <a:rPr lang="en-US" sz="1100" b="0" i="0" kern="1200" dirty="0" err="1">
                          <a:solidFill>
                            <a:schemeClr val="tx1"/>
                          </a:solidFill>
                          <a:effectLst/>
                          <a:latin typeface="+mn-lt"/>
                          <a:ea typeface="+mn-ea"/>
                          <a:cs typeface="+mn-cs"/>
                        </a:rPr>
                        <a:t>boston</a:t>
                      </a:r>
                      <a:r>
                        <a:rPr lang="en-US" sz="1100" b="0" i="0" kern="1200" dirty="0">
                          <a:solidFill>
                            <a:schemeClr val="tx1"/>
                          </a:solidFill>
                          <a:effectLst/>
                          <a:latin typeface="+mn-lt"/>
                          <a:ea typeface="+mn-ea"/>
                          <a:cs typeface="+mn-cs"/>
                        </a:rPr>
                        <a:t>', 'worker', 'runs', 'across', 'the', 'green', 'grass', 'in', 'front', 'of', 'a', 'white', 'fence',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400" dirty="0"/>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2"/>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'girl', 'in', 'karate', 'uniform', 'breaking', 'a', 'stick', 'with', 'a', 'front', 'kick',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'girl', 'in', 'a', 'karate', 'uniform', 'is', 'taking', 'a', 'kick', 'with', 'a', 'kicks',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400" dirty="0"/>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3"/>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'five', 'people', 'wearing', 'winter', 'jackets', 'and', 'helmets', 'stand', 'in', 'the', 'snow', 'with', '&lt;</a:t>
                      </a:r>
                      <a:r>
                        <a:rPr lang="en-US" sz="1100" b="0" i="0" kern="1200" dirty="0" err="1">
                          <a:solidFill>
                            <a:schemeClr val="tx1"/>
                          </a:solidFill>
                          <a:effectLst/>
                          <a:latin typeface="+mn-lt"/>
                          <a:ea typeface="+mn-ea"/>
                          <a:cs typeface="+mn-cs"/>
                        </a:rPr>
                        <a:t>unk</a:t>
                      </a:r>
                      <a:r>
                        <a:rPr lang="en-US" sz="1100" b="0" i="0" kern="1200" dirty="0">
                          <a:solidFill>
                            <a:schemeClr val="tx1"/>
                          </a:solidFill>
                          <a:effectLst/>
                          <a:latin typeface="+mn-lt"/>
                          <a:ea typeface="+mn-ea"/>
                          <a:cs typeface="+mn-cs"/>
                        </a:rPr>
                        <a:t>&gt;', 'in', 'the', 'background',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'five', 'people', 'in', 'traditional', 'outfits', 'and', 'helmets', 'stand', 'in', 'the', 'snow', 'with', 'helmets', 'in', 'the', 'background',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400" dirty="0"/>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4"/>
                  </a:ext>
                </a:extLst>
              </a:tr>
              <a:tr h="308096">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'people', 'are', 'fixing', 'the', 'roof', 'of', 'a', 'house',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'people', 'are', 'fixing', 'the', 'roof', 'of', 'a', 'house',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5"/>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'group', 'of', 'people', 'standing', 'in', 'front', 'of', 'an', 'igloo',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'group', 'of', 'people', 'standing', 'in', 'front', 'of', 'a', 'fire',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100" dirty="0"/>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6"/>
                  </a:ext>
                </a:extLst>
              </a:tr>
              <a:tr h="262907">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'guy', 'works', 'on', 'a', 'building',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'guy', 'working', 'on', 'a', 'building',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400" dirty="0"/>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7"/>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'man', 'in', 'a', 'vest', 'is', 'sitting', 'in', 'a', 'chair', 'and', 'holding', 'magazines',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'man', 'in', 'a', 'vest', 'is', 'sitting', 'on', 'a', 'chair', 'holding', 'a', 'cup',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400" dirty="0"/>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8"/>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'mother', 'and', 'her', 'young', 'song', 'enjoying', 'a', 'beautiful', 'day', 'outside',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'mother', 'and', 'her', 'son', 'enjoying', 'a', 'nice', 'day', 'outdoors',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 'outside',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400" dirty="0"/>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9"/>
                  </a:ext>
                </a:extLst>
              </a:tr>
            </a:tbl>
          </a:graphicData>
        </a:graphic>
      </p:graphicFrame>
      <p:sp>
        <p:nvSpPr>
          <p:cNvPr id="133" name="CustomShape 2"/>
          <p:cNvSpPr/>
          <p:nvPr/>
        </p:nvSpPr>
        <p:spPr>
          <a:xfrm>
            <a:off x="3909600" y="4773960"/>
            <a:ext cx="1002240" cy="36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dirty="0">
                <a:solidFill>
                  <a:srgbClr val="000000"/>
                </a:solidFill>
                <a:latin typeface="Arial"/>
                <a:ea typeface="DejaVu Sans"/>
              </a:rPr>
              <a:t>Table 2</a:t>
            </a:r>
            <a:endParaRPr lang="en-US" sz="1800" b="0" strike="noStrike" spc="-1" dirty="0">
              <a:latin typeface="Arial"/>
            </a:endParaRPr>
          </a:p>
        </p:txBody>
      </p:sp>
      <p:sp>
        <p:nvSpPr>
          <p:cNvPr id="134" name="CustomShape 3"/>
          <p:cNvSpPr/>
          <p:nvPr/>
        </p:nvSpPr>
        <p:spPr>
          <a:xfrm>
            <a:off x="312120" y="7864"/>
            <a:ext cx="8517960" cy="57024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lstStyle/>
          <a:p>
            <a:pPr>
              <a:lnSpc>
                <a:spcPct val="100000"/>
              </a:lnSpc>
            </a:pPr>
            <a:r>
              <a:rPr lang="en-US" sz="2000" b="1" strike="noStrike" spc="-1" dirty="0">
                <a:solidFill>
                  <a:srgbClr val="0070C0"/>
                </a:solidFill>
                <a:latin typeface="Arial"/>
                <a:ea typeface="Arial"/>
              </a:rPr>
              <a:t>Full Transformer Translation Results (best model) </a:t>
            </a:r>
            <a:endParaRPr lang="en-US" sz="2000" b="1" strike="noStrike" spc="-1" dirty="0">
              <a:solidFill>
                <a:srgbClr val="0070C0"/>
              </a:solidFill>
              <a:latin typeface="Arial"/>
            </a:endParaRPr>
          </a:p>
        </p:txBody>
      </p:sp>
      <p:sp>
        <p:nvSpPr>
          <p:cNvPr id="135" name="CustomShape 4"/>
          <p:cNvSpPr/>
          <p:nvPr/>
        </p:nvSpPr>
        <p:spPr>
          <a:xfrm>
            <a:off x="328773" y="331214"/>
            <a:ext cx="8034391" cy="600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200" b="0" strike="noStrike" spc="-1" dirty="0">
                <a:solidFill>
                  <a:srgbClr val="595959"/>
                </a:solidFill>
                <a:latin typeface="Arial"/>
                <a:ea typeface="Arial"/>
              </a:rPr>
              <a:t>Put translation results for your best model (1</a:t>
            </a:r>
            <a:r>
              <a:rPr lang="en-US" sz="1200" b="0" strike="noStrike" spc="-1" baseline="101000" dirty="0">
                <a:solidFill>
                  <a:srgbClr val="595959"/>
                </a:solidFill>
                <a:latin typeface="Arial"/>
                <a:ea typeface="Arial"/>
              </a:rPr>
              <a:t>st</a:t>
            </a:r>
            <a:r>
              <a:rPr lang="en-US" sz="1200" b="0" strike="noStrike" spc="-1" dirty="0">
                <a:solidFill>
                  <a:srgbClr val="595959"/>
                </a:solidFill>
                <a:latin typeface="Arial"/>
                <a:ea typeface="Arial"/>
              </a:rPr>
              <a:t> 9 sentences) here. You may remove duplicate &lt;pad&gt; and &lt;</a:t>
            </a:r>
            <a:r>
              <a:rPr lang="en-US" sz="1200" b="0" strike="noStrike" spc="-1" dirty="0" err="1">
                <a:solidFill>
                  <a:srgbClr val="595959"/>
                </a:solidFill>
                <a:latin typeface="Arial"/>
                <a:ea typeface="Arial"/>
              </a:rPr>
              <a:t>eos</a:t>
            </a:r>
            <a:r>
              <a:rPr lang="en-US" sz="1200" b="0" strike="noStrike" spc="-1" dirty="0">
                <a:solidFill>
                  <a:srgbClr val="595959"/>
                </a:solidFill>
                <a:latin typeface="Arial"/>
                <a:ea typeface="Arial"/>
              </a:rPr>
              <a:t>&gt; tokens for each sentence.</a:t>
            </a:r>
            <a:endParaRPr lang="en-US" sz="1200" b="0" strike="noStrike" spc="-1" dirty="0">
              <a:latin typeface="Arial"/>
            </a:endParaRPr>
          </a:p>
        </p:txBody>
      </p:sp>
    </p:spTree>
    <p:extLst>
      <p:ext uri="{BB962C8B-B14F-4D97-AF65-F5344CB8AC3E}">
        <p14:creationId xmlns:p14="http://schemas.microsoft.com/office/powerpoint/2010/main" val="2161745154"/>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6" name="Table 1"/>
          <p:cNvGraphicFramePr/>
          <p:nvPr>
            <p:extLst>
              <p:ext uri="{D42A27DB-BD31-4B8C-83A1-F6EECF244321}">
                <p14:modId xmlns:p14="http://schemas.microsoft.com/office/powerpoint/2010/main" val="1447545617"/>
              </p:ext>
            </p:extLst>
          </p:nvPr>
        </p:nvGraphicFramePr>
        <p:xfrm>
          <a:off x="0" y="742068"/>
          <a:ext cx="9144000" cy="3926133"/>
        </p:xfrm>
        <a:graphic>
          <a:graphicData uri="http://schemas.openxmlformats.org/drawingml/2006/table">
            <a:tbl>
              <a:tblPr/>
              <a:tblGrid>
                <a:gridCol w="4571280">
                  <a:extLst>
                    <a:ext uri="{9D8B030D-6E8A-4147-A177-3AD203B41FA5}">
                      <a16:colId xmlns:a16="http://schemas.microsoft.com/office/drawing/2014/main" val="20000"/>
                    </a:ext>
                  </a:extLst>
                </a:gridCol>
                <a:gridCol w="4572720">
                  <a:extLst>
                    <a:ext uri="{9D8B030D-6E8A-4147-A177-3AD203B41FA5}">
                      <a16:colId xmlns:a16="http://schemas.microsoft.com/office/drawing/2014/main" val="20001"/>
                    </a:ext>
                  </a:extLst>
                </a:gridCol>
              </a:tblGrid>
              <a:tr h="347760">
                <a:tc>
                  <a:txBody>
                    <a:bodyPr/>
                    <a:lstStyle/>
                    <a:p>
                      <a:pPr>
                        <a:lnSpc>
                          <a:spcPct val="100000"/>
                        </a:lnSpc>
                      </a:pPr>
                      <a:r>
                        <a:rPr lang="en-US" sz="1800" b="0" strike="noStrike" spc="-1" dirty="0">
                          <a:latin typeface="+mn-lt"/>
                        </a:rPr>
                        <a:t>True Translation</a:t>
                      </a:r>
                      <a:endParaRPr lang="en-US" sz="1800" b="0" strike="noStrike" spc="-1" dirty="0">
                        <a:latin typeface="Arial"/>
                      </a:endParaRPr>
                    </a:p>
                  </a:txBody>
                  <a:tcPr marL="90000" marR="90000">
                    <a:lnL w="720">
                      <a:solidFill>
                        <a:srgbClr val="FFFFFF"/>
                      </a:solidFill>
                    </a:lnL>
                    <a:lnR w="720">
                      <a:solidFill>
                        <a:srgbClr val="FFFFFF"/>
                      </a:solidFill>
                    </a:lnR>
                    <a:lnT w="720">
                      <a:solidFill>
                        <a:srgbClr val="FFFFFF"/>
                      </a:solidFill>
                    </a:lnT>
                    <a:lnB w="720" cap="flat" cmpd="sng" algn="ctr">
                      <a:solidFill>
                        <a:srgbClr val="FFFFFF"/>
                      </a:solidFill>
                      <a:prstDash val="solid"/>
                      <a:round/>
                      <a:headEnd type="none" w="med" len="med"/>
                      <a:tailEnd type="none" w="med" len="med"/>
                    </a:lnB>
                    <a:solidFill>
                      <a:srgbClr val="B3B3B3"/>
                    </a:solidFill>
                  </a:tcPr>
                </a:tc>
                <a:tc>
                  <a:txBody>
                    <a:bodyPr/>
                    <a:lstStyle/>
                    <a:p>
                      <a:pPr>
                        <a:lnSpc>
                          <a:spcPct val="100000"/>
                        </a:lnSpc>
                      </a:pPr>
                      <a:r>
                        <a:rPr lang="en-US" sz="1800" b="0" strike="noStrike" spc="-1" dirty="0">
                          <a:latin typeface="+mn-lt"/>
                        </a:rPr>
                        <a:t>Predicted Translation</a:t>
                      </a:r>
                      <a:endParaRPr lang="en-US" sz="1800" b="0" strike="noStrike" spc="-1" dirty="0">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extLst>
                  <a:ext uri="{0D108BD9-81ED-4DB2-BD59-A6C34878D82A}">
                    <a16:rowId xmlns:a16="http://schemas.microsoft.com/office/drawing/2014/main" val="10000"/>
                  </a:ext>
                </a:extLst>
              </a:tr>
              <a:tr h="247320">
                <a:tc>
                  <a:txBody>
                    <a:bodyPr/>
                    <a:lstStyle/>
                    <a:p>
                      <a:pPr>
                        <a:lnSpc>
                          <a:spcPct val="100000"/>
                        </a:lnSpc>
                      </a:pPr>
                      <a:r>
                        <a:rPr lang="en-US" sz="1100" b="0" strike="noStrike" spc="-1" dirty="0">
                          <a:latin typeface="Times New Roman"/>
                        </a:rPr>
                        <a:t>'&lt;</a:t>
                      </a:r>
                      <a:r>
                        <a:rPr lang="en-US" sz="1100" b="0" strike="noStrike" spc="-1" dirty="0" err="1">
                          <a:latin typeface="Times New Roman"/>
                        </a:rPr>
                        <a:t>sos</a:t>
                      </a:r>
                      <a:r>
                        <a:rPr lang="en-US" sz="1100" b="0" strike="noStrike" spc="-1" dirty="0">
                          <a:latin typeface="Times New Roman"/>
                        </a:rPr>
                        <a:t>&gt;', 'a', 'man', 'in', 'an', 'orange', 'hat', 'starring’,  'at', 'something', '&lt;</a:t>
                      </a:r>
                      <a:r>
                        <a:rPr lang="en-US" sz="1100" b="0" strike="noStrike" spc="-1" dirty="0" err="1">
                          <a:latin typeface="Times New Roman"/>
                        </a:rPr>
                        <a:t>eos</a:t>
                      </a:r>
                      <a:r>
                        <a:rPr lang="en-US" sz="1100" b="0" strike="noStrike" spc="-1" dirty="0">
                          <a:latin typeface="Times New Roman"/>
                        </a:rPr>
                        <a:t>&gt;'</a:t>
                      </a:r>
                      <a:endParaRPr lang="en-US" sz="1100" b="0" strike="noStrike" spc="-1" dirty="0">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pPr>
                        <a:lnSpc>
                          <a:spcPct val="100000"/>
                        </a:lnSpc>
                      </a:pPr>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'man', 'in', 'a', 'orange', 'hat', 'is',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b="0" strike="noStrike" spc="-1" dirty="0">
                        <a:latin typeface="Arial"/>
                      </a:endParaRPr>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1"/>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a:t>
                      </a:r>
                      <a:r>
                        <a:rPr lang="en-US" sz="1100" b="0" i="0" kern="1200" dirty="0" err="1">
                          <a:solidFill>
                            <a:schemeClr val="tx1"/>
                          </a:solidFill>
                          <a:effectLst/>
                          <a:latin typeface="+mn-lt"/>
                          <a:ea typeface="+mn-ea"/>
                          <a:cs typeface="+mn-cs"/>
                        </a:rPr>
                        <a:t>boston</a:t>
                      </a:r>
                      <a:r>
                        <a:rPr lang="en-US" sz="1100" b="0" i="0" kern="1200" dirty="0">
                          <a:solidFill>
                            <a:schemeClr val="tx1"/>
                          </a:solidFill>
                          <a:effectLst/>
                          <a:latin typeface="+mn-lt"/>
                          <a:ea typeface="+mn-ea"/>
                          <a:cs typeface="+mn-cs"/>
                        </a:rPr>
                        <a:t>', 'terrier', 'is', 'running', 'on', 'lush', 'green', 'grass', 'in', 'front', 'of', 'a', 'white', 'fence',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'brown', 'white', 'dog', 'is', 'running', 'on', 'a', 'a', 'in', 'in', 'a', 'of', 'a',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2"/>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'girl', 'in', 'karate', 'uniform', 'breaking', 'a', 'stick', 'with', 'a', 'front', 'kick',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'girl', 'in', 'a', 'a', 'is', 'a', 'a', 'a', 'with', 'a', 'a',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3"/>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'five', 'people', 'wearing', 'winter', 'jackets', 'and', 'helmets', 'stand', 'in', 'the', 'snow', 'with', '&lt;</a:t>
                      </a:r>
                      <a:r>
                        <a:rPr lang="en-US" sz="1100" b="0" i="0" kern="1200" dirty="0" err="1">
                          <a:solidFill>
                            <a:schemeClr val="tx1"/>
                          </a:solidFill>
                          <a:effectLst/>
                          <a:latin typeface="+mn-lt"/>
                          <a:ea typeface="+mn-ea"/>
                          <a:cs typeface="+mn-cs"/>
                        </a:rPr>
                        <a:t>unk</a:t>
                      </a:r>
                      <a:r>
                        <a:rPr lang="en-US" sz="1100" b="0" i="0" kern="1200" dirty="0">
                          <a:solidFill>
                            <a:schemeClr val="tx1"/>
                          </a:solidFill>
                          <a:effectLst/>
                          <a:latin typeface="+mn-lt"/>
                          <a:ea typeface="+mn-ea"/>
                          <a:cs typeface="+mn-cs"/>
                        </a:rPr>
                        <a:t>&gt;', 'in', 'the', 'background',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'five', 'people', 'wearing', 'in', 'and', 'and', 'are', 'in', 'in', 'in', 'in', 'in', 'in', 'background', 'background',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4"/>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'people', 'are', 'fixing', 'the', 'roof', 'of', 'a', 'house',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'people', 'are', 'on', 'a', 'a', 'of', 'of',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5"/>
                  </a:ext>
                </a:extLst>
              </a:tr>
              <a:tr h="314395">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'group', 'of', 'people', 'standing', 'in', 'front', 'of', 'an', 'igloo',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'group', 'of', 'people', 'standing', 'in', 'front', 'a', 'a',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6"/>
                  </a:ext>
                </a:extLst>
              </a:tr>
              <a:tr h="302013">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'guy', 'works', 'on', 'a', 'building',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'guy', 'working', 'working', 'a', 'a', 'a',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7"/>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'man', 'in', 'a', 'vest', 'is', 'sitting', 'in', 'a', 'chair', 'and', 'holding', 'magazines',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'man', 'in', 'a', 'suit', 'suit', 'sitting', 'sitting', 'a', 'chair', 'chair',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8"/>
                  </a:ext>
                </a:extLst>
              </a:tr>
              <a:tr h="428760">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'mother', 'and', 'her', 'young', 'song', 'enjoying', 'a', 'beautiful', 'day', 'outside',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100" b="0" i="0" kern="1200" dirty="0">
                          <a:solidFill>
                            <a:schemeClr val="tx1"/>
                          </a:solidFill>
                          <a:effectLst/>
                          <a:latin typeface="+mn-lt"/>
                          <a:ea typeface="+mn-ea"/>
                          <a:cs typeface="+mn-cs"/>
                        </a:rPr>
                        <a:t>'&lt;</a:t>
                      </a:r>
                      <a:r>
                        <a:rPr lang="en-US" sz="1100" b="0" i="0" kern="1200" dirty="0" err="1">
                          <a:solidFill>
                            <a:schemeClr val="tx1"/>
                          </a:solidFill>
                          <a:effectLst/>
                          <a:latin typeface="+mn-lt"/>
                          <a:ea typeface="+mn-ea"/>
                          <a:cs typeface="+mn-cs"/>
                        </a:rPr>
                        <a:t>sos</a:t>
                      </a:r>
                      <a:r>
                        <a:rPr lang="en-US" sz="1100" b="0" i="0" kern="1200" dirty="0">
                          <a:solidFill>
                            <a:schemeClr val="tx1"/>
                          </a:solidFill>
                          <a:effectLst/>
                          <a:latin typeface="+mn-lt"/>
                          <a:ea typeface="+mn-ea"/>
                          <a:cs typeface="+mn-cs"/>
                        </a:rPr>
                        <a:t>&gt;', 'a', 'mother', 'and', 'her', 'daughter', 'enjoying', 'enjoying', 'a', 'a', '&lt;</a:t>
                      </a:r>
                      <a:r>
                        <a:rPr lang="en-US" sz="1100" b="0" i="0" kern="1200" dirty="0" err="1">
                          <a:solidFill>
                            <a:schemeClr val="tx1"/>
                          </a:solidFill>
                          <a:effectLst/>
                          <a:latin typeface="+mn-lt"/>
                          <a:ea typeface="+mn-ea"/>
                          <a:cs typeface="+mn-cs"/>
                        </a:rPr>
                        <a:t>eos</a:t>
                      </a:r>
                      <a:r>
                        <a:rPr lang="en-US" sz="1100" b="0" i="0" kern="1200" dirty="0">
                          <a:solidFill>
                            <a:schemeClr val="tx1"/>
                          </a:solidFill>
                          <a:effectLst/>
                          <a:latin typeface="+mn-lt"/>
                          <a:ea typeface="+mn-ea"/>
                          <a:cs typeface="+mn-cs"/>
                        </a:rPr>
                        <a:t>&gt;'</a:t>
                      </a:r>
                      <a:endParaRPr lang="en-US" sz="800" dirty="0"/>
                    </a:p>
                  </a:txBody>
                  <a:tcPr marL="90000" marR="90000">
                    <a:lnL w="720" cap="flat" cmpd="sng" algn="ctr">
                      <a:solidFill>
                        <a:srgbClr val="FFFFFF"/>
                      </a:solidFill>
                      <a:prstDash val="solid"/>
                      <a:round/>
                      <a:headEnd type="none" w="med" len="med"/>
                      <a:tailEnd type="none" w="med" len="med"/>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9"/>
                  </a:ext>
                </a:extLst>
              </a:tr>
            </a:tbl>
          </a:graphicData>
        </a:graphic>
      </p:graphicFrame>
      <p:sp>
        <p:nvSpPr>
          <p:cNvPr id="137" name="CustomShape 2"/>
          <p:cNvSpPr/>
          <p:nvPr/>
        </p:nvSpPr>
        <p:spPr>
          <a:xfrm>
            <a:off x="3909600" y="4768618"/>
            <a:ext cx="1002240" cy="36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dirty="0">
                <a:solidFill>
                  <a:srgbClr val="000000"/>
                </a:solidFill>
                <a:latin typeface="Arial"/>
                <a:ea typeface="DejaVu Sans"/>
              </a:rPr>
              <a:t>Table 3</a:t>
            </a:r>
            <a:endParaRPr lang="en-US" sz="1800" b="0" strike="noStrike" spc="-1" dirty="0">
              <a:latin typeface="Arial"/>
            </a:endParaRPr>
          </a:p>
        </p:txBody>
      </p:sp>
      <p:sp>
        <p:nvSpPr>
          <p:cNvPr id="138" name="CustomShape 3"/>
          <p:cNvSpPr/>
          <p:nvPr/>
        </p:nvSpPr>
        <p:spPr>
          <a:xfrm>
            <a:off x="312120" y="7864"/>
            <a:ext cx="8517960" cy="57024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lstStyle/>
          <a:p>
            <a:pPr>
              <a:lnSpc>
                <a:spcPct val="100000"/>
              </a:lnSpc>
            </a:pPr>
            <a:r>
              <a:rPr lang="en-US" sz="2000" b="1" spc="-1" dirty="0">
                <a:solidFill>
                  <a:srgbClr val="0070C0"/>
                </a:solidFill>
                <a:latin typeface="Arial"/>
                <a:ea typeface="Arial"/>
              </a:rPr>
              <a:t>Seq2Seq (Best model)</a:t>
            </a:r>
            <a:r>
              <a:rPr lang="en-US" sz="2000" b="1" strike="noStrike" spc="-1" dirty="0">
                <a:solidFill>
                  <a:srgbClr val="0070C0"/>
                </a:solidFill>
                <a:latin typeface="Arial"/>
                <a:ea typeface="Arial"/>
              </a:rPr>
              <a:t> Translation Results </a:t>
            </a:r>
            <a:endParaRPr lang="en-US" sz="2000" b="1" strike="noStrike" spc="-1" dirty="0">
              <a:solidFill>
                <a:srgbClr val="0070C0"/>
              </a:solidFill>
              <a:latin typeface="Arial"/>
            </a:endParaRPr>
          </a:p>
        </p:txBody>
      </p:sp>
      <p:sp>
        <p:nvSpPr>
          <p:cNvPr id="2" name="CustomShape 4">
            <a:extLst>
              <a:ext uri="{FF2B5EF4-FFF2-40B4-BE49-F238E27FC236}">
                <a16:creationId xmlns:a16="http://schemas.microsoft.com/office/drawing/2014/main" id="{759F2CB8-07B0-9B1E-0CD2-20C2B8F6F980}"/>
              </a:ext>
            </a:extLst>
          </p:cNvPr>
          <p:cNvSpPr/>
          <p:nvPr/>
        </p:nvSpPr>
        <p:spPr>
          <a:xfrm>
            <a:off x="328773" y="331214"/>
            <a:ext cx="8034391" cy="600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200" b="0" strike="noStrike" spc="-1" dirty="0">
                <a:solidFill>
                  <a:srgbClr val="595959"/>
                </a:solidFill>
                <a:latin typeface="Arial"/>
                <a:ea typeface="Arial"/>
              </a:rPr>
              <a:t>Put translation results for your best model (1</a:t>
            </a:r>
            <a:r>
              <a:rPr lang="en-US" sz="1200" b="0" strike="noStrike" spc="-1" baseline="101000" dirty="0">
                <a:solidFill>
                  <a:srgbClr val="595959"/>
                </a:solidFill>
                <a:latin typeface="Arial"/>
                <a:ea typeface="Arial"/>
              </a:rPr>
              <a:t>st</a:t>
            </a:r>
            <a:r>
              <a:rPr lang="en-US" sz="1200" b="0" strike="noStrike" spc="-1" dirty="0">
                <a:solidFill>
                  <a:srgbClr val="595959"/>
                </a:solidFill>
                <a:latin typeface="Arial"/>
                <a:ea typeface="Arial"/>
              </a:rPr>
              <a:t> 9 sentences) here. You may remove duplicate &lt;pad&gt; and &lt;</a:t>
            </a:r>
            <a:r>
              <a:rPr lang="en-US" sz="1200" b="0" strike="noStrike" spc="-1" dirty="0" err="1">
                <a:solidFill>
                  <a:srgbClr val="595959"/>
                </a:solidFill>
                <a:latin typeface="Arial"/>
                <a:ea typeface="Arial"/>
              </a:rPr>
              <a:t>eos</a:t>
            </a:r>
            <a:r>
              <a:rPr lang="en-US" sz="1200" b="0" strike="noStrike" spc="-1" dirty="0">
                <a:solidFill>
                  <a:srgbClr val="595959"/>
                </a:solidFill>
                <a:latin typeface="Arial"/>
                <a:ea typeface="Arial"/>
              </a:rPr>
              <a:t>&gt; tokens for each sentence.</a:t>
            </a:r>
            <a:endParaRPr lang="en-US" sz="1200" b="0" strike="noStrike" spc="-1" dirty="0">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CustomShape 1"/>
          <p:cNvSpPr/>
          <p:nvPr/>
        </p:nvSpPr>
        <p:spPr>
          <a:xfrm>
            <a:off x="311760" y="1152360"/>
            <a:ext cx="8518680" cy="3414600"/>
          </a:xfrm>
          <a:prstGeom prst="rect">
            <a:avLst/>
          </a:prstGeom>
          <a:noFill/>
          <a:ln>
            <a:noFill/>
          </a:ln>
        </p:spPr>
        <p:style>
          <a:lnRef idx="0">
            <a:scrgbClr r="0" g="0" b="0"/>
          </a:lnRef>
          <a:fillRef idx="0">
            <a:scrgbClr r="0" g="0" b="0"/>
          </a:fillRef>
          <a:effectRef idx="0">
            <a:scrgbClr r="0" g="0" b="0"/>
          </a:effectRef>
          <a:fontRef idx="minor"/>
        </p:style>
        <p:txBody>
          <a:bodyPr/>
          <a:lstStyle/>
          <a:p>
            <a:endParaRPr lang="en-US"/>
          </a:p>
        </p:txBody>
      </p:sp>
      <p:sp>
        <p:nvSpPr>
          <p:cNvPr id="141" name="CustomShape 2"/>
          <p:cNvSpPr/>
          <p:nvPr/>
        </p:nvSpPr>
        <p:spPr>
          <a:xfrm>
            <a:off x="312120" y="797736"/>
            <a:ext cx="8517960" cy="600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200" b="0" strike="noStrike" spc="-1" dirty="0">
                <a:solidFill>
                  <a:srgbClr val="595959"/>
                </a:solidFill>
                <a:latin typeface="Arial"/>
                <a:ea typeface="Arial"/>
              </a:rPr>
              <a:t>Compare your </a:t>
            </a:r>
            <a:r>
              <a:rPr lang="en-US" sz="1200" spc="-1" dirty="0">
                <a:solidFill>
                  <a:srgbClr val="595959"/>
                </a:solidFill>
                <a:latin typeface="Arial"/>
                <a:ea typeface="Arial"/>
              </a:rPr>
              <a:t>results for default settings for Encoder Only Transformer vs best model for Full transformer both quantitatively and qualitatively. Explain why you see differences. </a:t>
            </a:r>
            <a:endParaRPr lang="en-US" sz="1200" b="0" strike="noStrike" spc="-1" dirty="0">
              <a:latin typeface="Arial"/>
            </a:endParaRPr>
          </a:p>
        </p:txBody>
      </p:sp>
      <p:sp>
        <p:nvSpPr>
          <p:cNvPr id="142" name="CustomShape 3"/>
          <p:cNvSpPr/>
          <p:nvPr/>
        </p:nvSpPr>
        <p:spPr>
          <a:xfrm>
            <a:off x="312120" y="48960"/>
            <a:ext cx="8517960" cy="57024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lstStyle/>
          <a:p>
            <a:pPr>
              <a:lnSpc>
                <a:spcPct val="100000"/>
              </a:lnSpc>
            </a:pPr>
            <a:r>
              <a:rPr lang="en-US" sz="2000" b="1" strike="noStrike" spc="-1" dirty="0">
                <a:solidFill>
                  <a:srgbClr val="0070C0"/>
                </a:solidFill>
                <a:latin typeface="Arial"/>
                <a:ea typeface="Arial"/>
              </a:rPr>
              <a:t>Compare Transformer (Encoder Only) to Transformer (</a:t>
            </a:r>
            <a:r>
              <a:rPr lang="en-US" sz="2000" b="1" spc="-1" dirty="0">
                <a:solidFill>
                  <a:srgbClr val="0070C0"/>
                </a:solidFill>
                <a:latin typeface="Arial"/>
                <a:ea typeface="Arial"/>
              </a:rPr>
              <a:t>Full transformer</a:t>
            </a:r>
            <a:r>
              <a:rPr lang="en-US" sz="2000" b="1" strike="noStrike" spc="-1" dirty="0">
                <a:solidFill>
                  <a:srgbClr val="0070C0"/>
                </a:solidFill>
                <a:latin typeface="Arial"/>
                <a:ea typeface="Arial"/>
              </a:rPr>
              <a:t>) </a:t>
            </a:r>
            <a:endParaRPr lang="en-US" sz="2000" b="1" strike="noStrike" spc="-1" dirty="0">
              <a:solidFill>
                <a:srgbClr val="0070C0"/>
              </a:solidFill>
              <a:latin typeface="Arial"/>
            </a:endParaRPr>
          </a:p>
        </p:txBody>
      </p:sp>
      <p:sp>
        <p:nvSpPr>
          <p:cNvPr id="4" name="TextBox 3">
            <a:extLst>
              <a:ext uri="{FF2B5EF4-FFF2-40B4-BE49-F238E27FC236}">
                <a16:creationId xmlns:a16="http://schemas.microsoft.com/office/drawing/2014/main" id="{6DBBE790-C602-FFB9-A168-E16965A15852}"/>
              </a:ext>
            </a:extLst>
          </p:cNvPr>
          <p:cNvSpPr txBox="1"/>
          <p:nvPr/>
        </p:nvSpPr>
        <p:spPr>
          <a:xfrm>
            <a:off x="312120" y="1335306"/>
            <a:ext cx="8517960" cy="2862322"/>
          </a:xfrm>
          <a:prstGeom prst="rect">
            <a:avLst/>
          </a:prstGeom>
          <a:noFill/>
        </p:spPr>
        <p:txBody>
          <a:bodyPr wrap="square" rtlCol="0">
            <a:spAutoFit/>
          </a:bodyPr>
          <a:lstStyle/>
          <a:p>
            <a:r>
              <a:rPr lang="en-US" sz="1200" b="1" u="sng" dirty="0"/>
              <a:t>Comparison: </a:t>
            </a:r>
            <a:r>
              <a:rPr lang="en-US" sz="1200" dirty="0"/>
              <a:t>the full Transformer model significantly outperforms the encoder-only Transformer both quantitatively and qualitatively.</a:t>
            </a:r>
          </a:p>
          <a:p>
            <a:pPr marL="171450" indent="-171450">
              <a:buFont typeface="Wingdings" panose="05000000000000000000" pitchFamily="2" charset="2"/>
              <a:buChar char="Ø"/>
            </a:pPr>
            <a:r>
              <a:rPr lang="en-US" sz="1200" dirty="0"/>
              <a:t>Quantitatively, the encoder-only model has much higher validation perplexity (about </a:t>
            </a:r>
            <a:r>
              <a:rPr lang="en-US" sz="1200" b="1" dirty="0"/>
              <a:t>22.5</a:t>
            </a:r>
            <a:r>
              <a:rPr lang="en-US" sz="1200" dirty="0"/>
              <a:t>) compared to the full Transformer (</a:t>
            </a:r>
            <a:r>
              <a:rPr lang="en-US" sz="1200" b="1" dirty="0"/>
              <a:t>≈5.8</a:t>
            </a:r>
            <a:r>
              <a:rPr lang="en-US" sz="1200" dirty="0"/>
              <a:t>), indicating that the full Transformer models the target sequence much more effectively.</a:t>
            </a:r>
          </a:p>
          <a:p>
            <a:pPr marL="171450" indent="-171450">
              <a:buFont typeface="Wingdings" panose="05000000000000000000" pitchFamily="2" charset="2"/>
              <a:buChar char="Ø"/>
            </a:pPr>
            <a:r>
              <a:rPr lang="en-US" sz="1200" dirty="0"/>
              <a:t>Qualitatively, the encoder-only Transformer frequently produces </a:t>
            </a:r>
            <a:r>
              <a:rPr lang="en-US" sz="1200" b="1" dirty="0"/>
              <a:t>repetitions, incomplete sentences, and incorrect word choices</a:t>
            </a:r>
            <a:r>
              <a:rPr lang="en-US" sz="1200" dirty="0"/>
              <a:t>, because it lacks a dedicated decoder and cannot properly model the sequential dependencies of the output sentence. </a:t>
            </a:r>
          </a:p>
          <a:p>
            <a:endParaRPr lang="en-US" sz="1200" dirty="0"/>
          </a:p>
          <a:p>
            <a:pPr marL="171450" indent="-171450">
              <a:buFont typeface="Wingdings" panose="05000000000000000000" pitchFamily="2" charset="2"/>
              <a:buChar char="Ø"/>
            </a:pPr>
            <a:r>
              <a:rPr lang="en-US" sz="1200" dirty="0"/>
              <a:t>The full Transformer generates </a:t>
            </a:r>
            <a:r>
              <a:rPr lang="en-US" sz="1200" b="1" dirty="0"/>
              <a:t>more coherent and grammatically correct sentences</a:t>
            </a:r>
            <a:r>
              <a:rPr lang="en-US" sz="1200" dirty="0"/>
              <a:t>. The model captures better contextual relationships between words and produces translations that closely match the ground truth. This improvement comes from the encoder-decoder architecture and attention mechanism, which allows the decoder to dynamically attend to relevant parts of the input sequence during generation.</a:t>
            </a:r>
          </a:p>
          <a:p>
            <a:endParaRPr lang="en-US" sz="1200" u="sng" dirty="0"/>
          </a:p>
          <a:p>
            <a:r>
              <a:rPr lang="en-US" sz="1200" dirty="0"/>
              <a:t>Overall, these results demonstrate that the full Transformer architecture is substantially more effective for sequence-to-sequence translation tasks than an encoder-only Transformer.</a:t>
            </a:r>
            <a:endParaRPr lang="en-US" sz="1200" u="sng" dirty="0"/>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CustomShape 1"/>
          <p:cNvSpPr/>
          <p:nvPr/>
        </p:nvSpPr>
        <p:spPr>
          <a:xfrm>
            <a:off x="311760" y="1152360"/>
            <a:ext cx="8518680" cy="3414600"/>
          </a:xfrm>
          <a:prstGeom prst="rect">
            <a:avLst/>
          </a:prstGeom>
          <a:noFill/>
          <a:ln>
            <a:noFill/>
          </a:ln>
        </p:spPr>
        <p:style>
          <a:lnRef idx="0">
            <a:scrgbClr r="0" g="0" b="0"/>
          </a:lnRef>
          <a:fillRef idx="0">
            <a:scrgbClr r="0" g="0" b="0"/>
          </a:fillRef>
          <a:effectRef idx="0">
            <a:scrgbClr r="0" g="0" b="0"/>
          </a:effectRef>
          <a:fontRef idx="minor"/>
        </p:style>
        <p:txBody>
          <a:bodyPr/>
          <a:lstStyle/>
          <a:p>
            <a:endParaRPr lang="en-US"/>
          </a:p>
        </p:txBody>
      </p:sp>
      <p:sp>
        <p:nvSpPr>
          <p:cNvPr id="141" name="CustomShape 2"/>
          <p:cNvSpPr/>
          <p:nvPr/>
        </p:nvSpPr>
        <p:spPr>
          <a:xfrm>
            <a:off x="312119" y="551160"/>
            <a:ext cx="8517959" cy="600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200" b="0" strike="noStrike" spc="-1" dirty="0">
                <a:solidFill>
                  <a:srgbClr val="595959"/>
                </a:solidFill>
                <a:latin typeface="Arial"/>
                <a:ea typeface="Arial"/>
              </a:rPr>
              <a:t>Compare your </a:t>
            </a:r>
            <a:r>
              <a:rPr lang="en-US" sz="1200" spc="-1" dirty="0">
                <a:solidFill>
                  <a:srgbClr val="595959"/>
                </a:solidFill>
                <a:latin typeface="Arial"/>
                <a:ea typeface="Arial"/>
              </a:rPr>
              <a:t>Seq2Seq best model</a:t>
            </a:r>
            <a:r>
              <a:rPr lang="en-US" sz="1200" b="0" strike="noStrike" spc="-1" dirty="0">
                <a:solidFill>
                  <a:srgbClr val="595959"/>
                </a:solidFill>
                <a:latin typeface="Arial"/>
                <a:ea typeface="Arial"/>
              </a:rPr>
              <a:t> results to your Transformer </a:t>
            </a:r>
            <a:r>
              <a:rPr lang="en-US" sz="1200" spc="-1" dirty="0">
                <a:solidFill>
                  <a:srgbClr val="595959"/>
                </a:solidFill>
                <a:latin typeface="Arial"/>
                <a:ea typeface="Arial"/>
              </a:rPr>
              <a:t>b</a:t>
            </a:r>
            <a:r>
              <a:rPr lang="en-US" sz="1200" b="0" strike="noStrike" spc="-1" dirty="0">
                <a:solidFill>
                  <a:srgbClr val="595959"/>
                </a:solidFill>
                <a:latin typeface="Arial"/>
                <a:ea typeface="Arial"/>
              </a:rPr>
              <a:t>est model results both quantitatively and qualitatively and explain the differences.</a:t>
            </a:r>
            <a:endParaRPr lang="en-US" sz="1200" b="0" strike="noStrike" spc="-1" dirty="0">
              <a:latin typeface="Arial"/>
            </a:endParaRPr>
          </a:p>
        </p:txBody>
      </p:sp>
      <p:sp>
        <p:nvSpPr>
          <p:cNvPr id="142" name="CustomShape 3"/>
          <p:cNvSpPr/>
          <p:nvPr/>
        </p:nvSpPr>
        <p:spPr>
          <a:xfrm>
            <a:off x="312120" y="48960"/>
            <a:ext cx="8517960" cy="57024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lstStyle/>
          <a:p>
            <a:pPr>
              <a:lnSpc>
                <a:spcPct val="100000"/>
              </a:lnSpc>
            </a:pPr>
            <a:r>
              <a:rPr lang="en-US" sz="2000" b="1" strike="noStrike" spc="-1" dirty="0">
                <a:solidFill>
                  <a:srgbClr val="0070C0"/>
                </a:solidFill>
                <a:latin typeface="Arial"/>
                <a:ea typeface="Arial"/>
              </a:rPr>
              <a:t>Compare </a:t>
            </a:r>
            <a:r>
              <a:rPr lang="en-US" sz="2000" b="1" spc="-1" dirty="0">
                <a:solidFill>
                  <a:srgbClr val="0070C0"/>
                </a:solidFill>
                <a:latin typeface="Arial"/>
                <a:ea typeface="Arial"/>
              </a:rPr>
              <a:t>Seq2Seq</a:t>
            </a:r>
            <a:r>
              <a:rPr lang="en-US" sz="2000" b="1" strike="noStrike" spc="-1" dirty="0">
                <a:solidFill>
                  <a:srgbClr val="0070C0"/>
                </a:solidFill>
                <a:latin typeface="Arial"/>
                <a:ea typeface="Arial"/>
              </a:rPr>
              <a:t> to Transformer (Best models) </a:t>
            </a:r>
            <a:endParaRPr lang="en-US" sz="2000" b="1" strike="noStrike" spc="-1" dirty="0">
              <a:solidFill>
                <a:srgbClr val="0070C0"/>
              </a:solidFill>
              <a:latin typeface="Arial"/>
            </a:endParaRPr>
          </a:p>
        </p:txBody>
      </p:sp>
      <p:graphicFrame>
        <p:nvGraphicFramePr>
          <p:cNvPr id="4" name="Table 3">
            <a:extLst>
              <a:ext uri="{FF2B5EF4-FFF2-40B4-BE49-F238E27FC236}">
                <a16:creationId xmlns:a16="http://schemas.microsoft.com/office/drawing/2014/main" id="{B8EBBAEB-782F-B411-11CE-8C037D72DA2F}"/>
              </a:ext>
            </a:extLst>
          </p:cNvPr>
          <p:cNvGraphicFramePr>
            <a:graphicFrameLocks noGrp="1"/>
          </p:cNvGraphicFramePr>
          <p:nvPr>
            <p:extLst>
              <p:ext uri="{D42A27DB-BD31-4B8C-83A1-F6EECF244321}">
                <p14:modId xmlns:p14="http://schemas.microsoft.com/office/powerpoint/2010/main" val="1363541745"/>
              </p:ext>
            </p:extLst>
          </p:nvPr>
        </p:nvGraphicFramePr>
        <p:xfrm>
          <a:off x="811873" y="1053082"/>
          <a:ext cx="6928996" cy="976465"/>
        </p:xfrm>
        <a:graphic>
          <a:graphicData uri="http://schemas.openxmlformats.org/drawingml/2006/table">
            <a:tbl>
              <a:tblPr/>
              <a:tblGrid>
                <a:gridCol w="2314955">
                  <a:extLst>
                    <a:ext uri="{9D8B030D-6E8A-4147-A177-3AD203B41FA5}">
                      <a16:colId xmlns:a16="http://schemas.microsoft.com/office/drawing/2014/main" val="4150454678"/>
                    </a:ext>
                  </a:extLst>
                </a:gridCol>
                <a:gridCol w="1149544">
                  <a:extLst>
                    <a:ext uri="{9D8B030D-6E8A-4147-A177-3AD203B41FA5}">
                      <a16:colId xmlns:a16="http://schemas.microsoft.com/office/drawing/2014/main" val="2190131390"/>
                    </a:ext>
                  </a:extLst>
                </a:gridCol>
                <a:gridCol w="1509573">
                  <a:extLst>
                    <a:ext uri="{9D8B030D-6E8A-4147-A177-3AD203B41FA5}">
                      <a16:colId xmlns:a16="http://schemas.microsoft.com/office/drawing/2014/main" val="250180655"/>
                    </a:ext>
                  </a:extLst>
                </a:gridCol>
                <a:gridCol w="1954924">
                  <a:extLst>
                    <a:ext uri="{9D8B030D-6E8A-4147-A177-3AD203B41FA5}">
                      <a16:colId xmlns:a16="http://schemas.microsoft.com/office/drawing/2014/main" val="2592025338"/>
                    </a:ext>
                  </a:extLst>
                </a:gridCol>
              </a:tblGrid>
              <a:tr h="360559">
                <a:tc>
                  <a:txBody>
                    <a:bodyPr/>
                    <a:lstStyle/>
                    <a:p>
                      <a:pPr>
                        <a:buNone/>
                      </a:pPr>
                      <a:r>
                        <a:rPr lang="en-US" sz="1200"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Training Loss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Validation Loss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Validation Perplexity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3160374"/>
                  </a:ext>
                </a:extLst>
              </a:tr>
              <a:tr h="341586">
                <a:tc>
                  <a:txBody>
                    <a:bodyPr/>
                    <a:lstStyle/>
                    <a:p>
                      <a:pPr>
                        <a:buNone/>
                      </a:pPr>
                      <a:r>
                        <a:rPr lang="en-US" sz="1200"/>
                        <a:t>Seq2Seq (LSTM + Attention)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2.77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3.20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24.64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3761220"/>
                  </a:ext>
                </a:extLst>
              </a:tr>
              <a:tr h="253705">
                <a:tc>
                  <a:txBody>
                    <a:bodyPr/>
                    <a:lstStyle/>
                    <a:p>
                      <a:pPr>
                        <a:buNone/>
                      </a:pPr>
                      <a:r>
                        <a:rPr lang="en-US" sz="1200"/>
                        <a:t>Transformer (Full)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1.49</a:t>
                      </a:r>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t>1.76</a:t>
                      </a:r>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dirty="0"/>
                        <a:t>5.81</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5607485"/>
                  </a:ext>
                </a:extLst>
              </a:tr>
            </a:tbl>
          </a:graphicData>
        </a:graphic>
      </p:graphicFrame>
      <p:sp>
        <p:nvSpPr>
          <p:cNvPr id="7" name="TextBox 6">
            <a:extLst>
              <a:ext uri="{FF2B5EF4-FFF2-40B4-BE49-F238E27FC236}">
                <a16:creationId xmlns:a16="http://schemas.microsoft.com/office/drawing/2014/main" id="{38CA5FAC-059D-BF19-F6D7-66A4061E73C5}"/>
              </a:ext>
            </a:extLst>
          </p:cNvPr>
          <p:cNvSpPr txBox="1"/>
          <p:nvPr/>
        </p:nvSpPr>
        <p:spPr>
          <a:xfrm>
            <a:off x="422479" y="2116604"/>
            <a:ext cx="8517960" cy="2462213"/>
          </a:xfrm>
          <a:prstGeom prst="rect">
            <a:avLst/>
          </a:prstGeom>
          <a:noFill/>
        </p:spPr>
        <p:txBody>
          <a:bodyPr wrap="square" rtlCol="0">
            <a:spAutoFit/>
          </a:bodyPr>
          <a:lstStyle/>
          <a:p>
            <a:r>
              <a:rPr lang="en-US" sz="1100" b="1" u="sng" dirty="0"/>
              <a:t>Quantitative comparison: </a:t>
            </a:r>
            <a:r>
              <a:rPr lang="en-US" sz="1100" dirty="0"/>
              <a:t>The Transformer achieves much lower validation loss and perplexity, indicating that it models the sequence distribution more accurately and generalizes better to unseen data.</a:t>
            </a:r>
          </a:p>
          <a:p>
            <a:endParaRPr lang="en-US" sz="1100" dirty="0"/>
          </a:p>
          <a:p>
            <a:r>
              <a:rPr lang="en-US" sz="1100" b="1" dirty="0"/>
              <a:t>Qualitative comparison: </a:t>
            </a:r>
          </a:p>
          <a:p>
            <a:pPr marL="171450" indent="-171450">
              <a:buFont typeface="Wingdings" panose="05000000000000000000" pitchFamily="2" charset="2"/>
              <a:buChar char="Ø"/>
            </a:pPr>
            <a:r>
              <a:rPr lang="en-US" sz="1100" dirty="0"/>
              <a:t>The translation examples further highlight the difference in performance. The </a:t>
            </a:r>
            <a:r>
              <a:rPr lang="en-US" sz="1100" b="1" dirty="0"/>
              <a:t>Seq2Seq model often produces incomplete sentences, repeated tokens, or incorrect word choices</a:t>
            </a:r>
            <a:r>
              <a:rPr lang="en-US" sz="1100" dirty="0"/>
              <a:t>, which indicates limitations in modeling long-range dependencies.</a:t>
            </a:r>
          </a:p>
          <a:p>
            <a:pPr marL="171450" indent="-171450">
              <a:buFont typeface="Wingdings" panose="05000000000000000000" pitchFamily="2" charset="2"/>
              <a:buChar char="Ø"/>
            </a:pPr>
            <a:r>
              <a:rPr lang="en-US" sz="1100" dirty="0"/>
              <a:t>In contrast, the </a:t>
            </a:r>
            <a:r>
              <a:rPr lang="en-US" sz="1100" b="1" dirty="0"/>
              <a:t>Transformer generates more fluent and accurate translations</a:t>
            </a:r>
            <a:r>
              <a:rPr lang="en-US" sz="1100" dirty="0"/>
              <a:t>. The predicted sentences are generally closer to the true translations and maintain better grammatical structure.</a:t>
            </a:r>
          </a:p>
          <a:p>
            <a:endParaRPr lang="en-US" sz="1100" dirty="0"/>
          </a:p>
          <a:p>
            <a:r>
              <a:rPr lang="en-US" sz="1100" dirty="0"/>
              <a:t>Explanations: the improvement mainly comes from the architectural advantages of the Transformer:</a:t>
            </a:r>
          </a:p>
          <a:p>
            <a:pPr marL="171450" indent="-171450">
              <a:buFont typeface="Wingdings" panose="05000000000000000000" pitchFamily="2" charset="2"/>
              <a:buChar char="Ø"/>
            </a:pPr>
            <a:r>
              <a:rPr lang="en-US" sz="1100" dirty="0"/>
              <a:t>Self-attention allows the model to capture long-range dependencies more effectively than the sequential LSTM structure in Seq2Seq.</a:t>
            </a:r>
          </a:p>
          <a:p>
            <a:pPr marL="171450" indent="-171450">
              <a:buFont typeface="Wingdings" panose="05000000000000000000" pitchFamily="2" charset="2"/>
              <a:buChar char="Ø"/>
            </a:pPr>
            <a:r>
              <a:rPr lang="en-US" sz="1100" dirty="0"/>
              <a:t>Multi-head attention enables the model to attend to different aspects of the input sentence simultaneously.</a:t>
            </a:r>
          </a:p>
          <a:p>
            <a:pPr marL="171450" indent="-171450">
              <a:buFont typeface="Wingdings" panose="05000000000000000000" pitchFamily="2" charset="2"/>
              <a:buChar char="Ø"/>
            </a:pPr>
            <a:r>
              <a:rPr lang="en-US" sz="1100" dirty="0"/>
              <a:t>The Transformer processes tokens in parallel, which improves representation learning and training efficiency.</a:t>
            </a:r>
            <a:endParaRPr lang="en-US" sz="1100" u="sng" dirty="0"/>
          </a:p>
        </p:txBody>
      </p:sp>
    </p:spTree>
    <p:extLst>
      <p:ext uri="{BB962C8B-B14F-4D97-AF65-F5344CB8AC3E}">
        <p14:creationId xmlns:p14="http://schemas.microsoft.com/office/powerpoint/2010/main" val="3971383224"/>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CustomShape 1"/>
          <p:cNvSpPr/>
          <p:nvPr/>
        </p:nvSpPr>
        <p:spPr>
          <a:xfrm>
            <a:off x="311760" y="1299503"/>
            <a:ext cx="8518680" cy="3414600"/>
          </a:xfrm>
          <a:prstGeom prst="rect">
            <a:avLst/>
          </a:prstGeom>
          <a:noFill/>
          <a:ln>
            <a:noFill/>
          </a:ln>
        </p:spPr>
        <p:style>
          <a:lnRef idx="0">
            <a:scrgbClr r="0" g="0" b="0"/>
          </a:lnRef>
          <a:fillRef idx="0">
            <a:scrgbClr r="0" g="0" b="0"/>
          </a:fillRef>
          <a:effectRef idx="0">
            <a:scrgbClr r="0" g="0" b="0"/>
          </a:effectRef>
          <a:fontRef idx="minor"/>
        </p:style>
        <p:txBody>
          <a:bodyPr/>
          <a:lstStyle/>
          <a:p>
            <a:endParaRPr lang="en-US"/>
          </a:p>
        </p:txBody>
      </p:sp>
      <p:sp>
        <p:nvSpPr>
          <p:cNvPr id="145" name="CustomShape 3"/>
          <p:cNvSpPr/>
          <p:nvPr/>
        </p:nvSpPr>
        <p:spPr>
          <a:xfrm>
            <a:off x="312120" y="48960"/>
            <a:ext cx="8517960" cy="57024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lstStyle/>
          <a:p>
            <a:pPr>
              <a:lnSpc>
                <a:spcPct val="100000"/>
              </a:lnSpc>
            </a:pPr>
            <a:r>
              <a:rPr lang="en-US" sz="2000" b="1" strike="noStrike" spc="-1" dirty="0">
                <a:solidFill>
                  <a:srgbClr val="0070C0"/>
                </a:solidFill>
                <a:latin typeface="Arial"/>
                <a:ea typeface="Arial"/>
              </a:rPr>
              <a:t>Theory question</a:t>
            </a:r>
            <a:r>
              <a:rPr lang="en-US" sz="2000" b="1" strike="noStrike" spc="-1" dirty="0">
                <a:solidFill>
                  <a:srgbClr val="000000"/>
                </a:solidFill>
                <a:latin typeface="Arial"/>
                <a:ea typeface="Arial"/>
              </a:rPr>
              <a:t> </a:t>
            </a:r>
            <a:endParaRPr lang="en-US" sz="2000" b="1" strike="noStrike" spc="-1" dirty="0">
              <a:latin typeface="Arial"/>
            </a:endParaRPr>
          </a:p>
        </p:txBody>
      </p:sp>
      <p:sp>
        <p:nvSpPr>
          <p:cNvPr id="2" name="TextBox 1">
            <a:extLst>
              <a:ext uri="{FF2B5EF4-FFF2-40B4-BE49-F238E27FC236}">
                <a16:creationId xmlns:a16="http://schemas.microsoft.com/office/drawing/2014/main" id="{B270FA9A-3A01-E58A-B3D0-E8FB82D8DA2E}"/>
              </a:ext>
            </a:extLst>
          </p:cNvPr>
          <p:cNvSpPr txBox="1"/>
          <p:nvPr/>
        </p:nvSpPr>
        <p:spPr>
          <a:xfrm flipH="1">
            <a:off x="311760" y="504622"/>
            <a:ext cx="5179205" cy="276999"/>
          </a:xfrm>
          <a:prstGeom prst="rect">
            <a:avLst/>
          </a:prstGeom>
          <a:noFill/>
        </p:spPr>
        <p:txBody>
          <a:bodyPr wrap="square" rtlCol="0">
            <a:spAutoFit/>
          </a:bodyPr>
          <a:lstStyle/>
          <a:p>
            <a:r>
              <a:rPr lang="en-US" sz="1200" dirty="0"/>
              <a:t>Add additional slides if necessary</a:t>
            </a:r>
          </a:p>
        </p:txBody>
      </p:sp>
      <p:pic>
        <p:nvPicPr>
          <p:cNvPr id="4" name="Picture 3">
            <a:extLst>
              <a:ext uri="{FF2B5EF4-FFF2-40B4-BE49-F238E27FC236}">
                <a16:creationId xmlns:a16="http://schemas.microsoft.com/office/drawing/2014/main" id="{A589D10B-08CA-CF2E-9497-BBA0E6BC7CB6}"/>
              </a:ext>
            </a:extLst>
          </p:cNvPr>
          <p:cNvPicPr>
            <a:picLocks noChangeAspect="1"/>
          </p:cNvPicPr>
          <p:nvPr/>
        </p:nvPicPr>
        <p:blipFill>
          <a:blip r:embed="rId2"/>
          <a:stretch>
            <a:fillRect/>
          </a:stretch>
        </p:blipFill>
        <p:spPr>
          <a:xfrm>
            <a:off x="194903" y="1026018"/>
            <a:ext cx="2544952" cy="2142642"/>
          </a:xfrm>
          <a:prstGeom prst="rect">
            <a:avLst/>
          </a:prstGeom>
        </p:spPr>
      </p:pic>
      <p:pic>
        <p:nvPicPr>
          <p:cNvPr id="6" name="Picture 5">
            <a:extLst>
              <a:ext uri="{FF2B5EF4-FFF2-40B4-BE49-F238E27FC236}">
                <a16:creationId xmlns:a16="http://schemas.microsoft.com/office/drawing/2014/main" id="{5392BB45-82AC-1DDC-146D-297A7DCA2266}"/>
              </a:ext>
            </a:extLst>
          </p:cNvPr>
          <p:cNvPicPr>
            <a:picLocks noChangeAspect="1"/>
          </p:cNvPicPr>
          <p:nvPr/>
        </p:nvPicPr>
        <p:blipFill>
          <a:blip r:embed="rId3"/>
          <a:stretch>
            <a:fillRect/>
          </a:stretch>
        </p:blipFill>
        <p:spPr>
          <a:xfrm>
            <a:off x="194903" y="3168660"/>
            <a:ext cx="2787437" cy="1744396"/>
          </a:xfrm>
          <a:prstGeom prst="rect">
            <a:avLst/>
          </a:prstGeom>
        </p:spPr>
      </p:pic>
      <p:pic>
        <p:nvPicPr>
          <p:cNvPr id="8" name="Picture 7">
            <a:extLst>
              <a:ext uri="{FF2B5EF4-FFF2-40B4-BE49-F238E27FC236}">
                <a16:creationId xmlns:a16="http://schemas.microsoft.com/office/drawing/2014/main" id="{0101D89A-6A93-B41B-C25B-186B6F9903CC}"/>
              </a:ext>
            </a:extLst>
          </p:cNvPr>
          <p:cNvPicPr>
            <a:picLocks noChangeAspect="1"/>
          </p:cNvPicPr>
          <p:nvPr/>
        </p:nvPicPr>
        <p:blipFill>
          <a:blip r:embed="rId4"/>
          <a:stretch>
            <a:fillRect/>
          </a:stretch>
        </p:blipFill>
        <p:spPr>
          <a:xfrm>
            <a:off x="2883772" y="1299503"/>
            <a:ext cx="3060252" cy="1308522"/>
          </a:xfrm>
          <a:prstGeom prst="rect">
            <a:avLst/>
          </a:prstGeom>
        </p:spPr>
      </p:pic>
      <p:pic>
        <p:nvPicPr>
          <p:cNvPr id="10" name="Picture 9">
            <a:extLst>
              <a:ext uri="{FF2B5EF4-FFF2-40B4-BE49-F238E27FC236}">
                <a16:creationId xmlns:a16="http://schemas.microsoft.com/office/drawing/2014/main" id="{444EB234-C545-C6C8-BC0E-7C7A269B9F5F}"/>
              </a:ext>
            </a:extLst>
          </p:cNvPr>
          <p:cNvPicPr>
            <a:picLocks noChangeAspect="1"/>
          </p:cNvPicPr>
          <p:nvPr/>
        </p:nvPicPr>
        <p:blipFill>
          <a:blip r:embed="rId5"/>
          <a:stretch>
            <a:fillRect/>
          </a:stretch>
        </p:blipFill>
        <p:spPr>
          <a:xfrm>
            <a:off x="3022507" y="2881508"/>
            <a:ext cx="3164001" cy="1865815"/>
          </a:xfrm>
          <a:prstGeom prst="rect">
            <a:avLst/>
          </a:prstGeom>
        </p:spPr>
      </p:pic>
      <p:pic>
        <p:nvPicPr>
          <p:cNvPr id="14" name="Picture 13">
            <a:extLst>
              <a:ext uri="{FF2B5EF4-FFF2-40B4-BE49-F238E27FC236}">
                <a16:creationId xmlns:a16="http://schemas.microsoft.com/office/drawing/2014/main" id="{0DB84D5B-6189-8A46-7B73-827537A3773D}"/>
              </a:ext>
            </a:extLst>
          </p:cNvPr>
          <p:cNvPicPr>
            <a:picLocks noChangeAspect="1"/>
          </p:cNvPicPr>
          <p:nvPr/>
        </p:nvPicPr>
        <p:blipFill>
          <a:blip r:embed="rId6"/>
          <a:stretch>
            <a:fillRect/>
          </a:stretch>
        </p:blipFill>
        <p:spPr>
          <a:xfrm>
            <a:off x="5984159" y="1352938"/>
            <a:ext cx="3068175" cy="3057141"/>
          </a:xfrm>
          <a:prstGeom prst="rect">
            <a:avLst/>
          </a:prstGeom>
        </p:spPr>
      </p:pic>
      <p:sp>
        <p:nvSpPr>
          <p:cNvPr id="15" name="Rectangle 14">
            <a:extLst>
              <a:ext uri="{FF2B5EF4-FFF2-40B4-BE49-F238E27FC236}">
                <a16:creationId xmlns:a16="http://schemas.microsoft.com/office/drawing/2014/main" id="{C61FFF96-901F-7B20-FA62-86F77BE01393}"/>
              </a:ext>
            </a:extLst>
          </p:cNvPr>
          <p:cNvSpPr/>
          <p:nvPr/>
        </p:nvSpPr>
        <p:spPr>
          <a:xfrm>
            <a:off x="194903" y="1066798"/>
            <a:ext cx="8817296" cy="3888828"/>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6" name="TextBox 15">
            <a:extLst>
              <a:ext uri="{FF2B5EF4-FFF2-40B4-BE49-F238E27FC236}">
                <a16:creationId xmlns:a16="http://schemas.microsoft.com/office/drawing/2014/main" id="{A8A5802A-60CB-CFF2-2A61-24BE1E4580B1}"/>
              </a:ext>
            </a:extLst>
          </p:cNvPr>
          <p:cNvSpPr txBox="1"/>
          <p:nvPr/>
        </p:nvSpPr>
        <p:spPr>
          <a:xfrm>
            <a:off x="194903" y="822401"/>
            <a:ext cx="795411" cy="261610"/>
          </a:xfrm>
          <a:prstGeom prst="rect">
            <a:avLst/>
          </a:prstGeom>
          <a:noFill/>
        </p:spPr>
        <p:txBody>
          <a:bodyPr wrap="none" rtlCol="0">
            <a:spAutoFit/>
          </a:bodyPr>
          <a:lstStyle/>
          <a:p>
            <a:r>
              <a:rPr lang="en-US" sz="1100" b="1" dirty="0"/>
              <a:t>Solution:</a:t>
            </a:r>
          </a:p>
        </p:txBody>
      </p:sp>
      <p:cxnSp>
        <p:nvCxnSpPr>
          <p:cNvPr id="18" name="Straight Connector 17">
            <a:extLst>
              <a:ext uri="{FF2B5EF4-FFF2-40B4-BE49-F238E27FC236}">
                <a16:creationId xmlns:a16="http://schemas.microsoft.com/office/drawing/2014/main" id="{674F6B9F-34EF-CD5E-880B-93A85F99531D}"/>
              </a:ext>
            </a:extLst>
          </p:cNvPr>
          <p:cNvCxnSpPr>
            <a:cxnSpLocks/>
          </p:cNvCxnSpPr>
          <p:nvPr/>
        </p:nvCxnSpPr>
        <p:spPr>
          <a:xfrm>
            <a:off x="2883772" y="1074862"/>
            <a:ext cx="17590" cy="3871946"/>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2CEEA705-1BF4-95A1-F03F-FF0650D6A458}"/>
              </a:ext>
            </a:extLst>
          </p:cNvPr>
          <p:cNvCxnSpPr>
            <a:cxnSpLocks/>
          </p:cNvCxnSpPr>
          <p:nvPr/>
        </p:nvCxnSpPr>
        <p:spPr>
          <a:xfrm>
            <a:off x="5965041" y="1057980"/>
            <a:ext cx="19118" cy="3888828"/>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24198-FF6F-B58F-C250-169DDC8F6779}"/>
            </a:ext>
          </a:extLst>
        </p:cNvPr>
        <p:cNvGrpSpPr/>
        <p:nvPr/>
      </p:nvGrpSpPr>
      <p:grpSpPr>
        <a:xfrm>
          <a:off x="0" y="0"/>
          <a:ext cx="0" cy="0"/>
          <a:chOff x="0" y="0"/>
          <a:chExt cx="0" cy="0"/>
        </a:xfrm>
      </p:grpSpPr>
      <p:sp>
        <p:nvSpPr>
          <p:cNvPr id="143" name="CustomShape 1">
            <a:extLst>
              <a:ext uri="{FF2B5EF4-FFF2-40B4-BE49-F238E27FC236}">
                <a16:creationId xmlns:a16="http://schemas.microsoft.com/office/drawing/2014/main" id="{1C2724A3-B078-A461-DDBA-4C0B64037AE6}"/>
              </a:ext>
            </a:extLst>
          </p:cNvPr>
          <p:cNvSpPr/>
          <p:nvPr/>
        </p:nvSpPr>
        <p:spPr>
          <a:xfrm>
            <a:off x="311760" y="1152360"/>
            <a:ext cx="8518680" cy="3414600"/>
          </a:xfrm>
          <a:prstGeom prst="rect">
            <a:avLst/>
          </a:prstGeom>
          <a:noFill/>
          <a:ln>
            <a:noFill/>
          </a:ln>
        </p:spPr>
        <p:style>
          <a:lnRef idx="0">
            <a:scrgbClr r="0" g="0" b="0"/>
          </a:lnRef>
          <a:fillRef idx="0">
            <a:scrgbClr r="0" g="0" b="0"/>
          </a:fillRef>
          <a:effectRef idx="0">
            <a:scrgbClr r="0" g="0" b="0"/>
          </a:effectRef>
          <a:fontRef idx="minor"/>
        </p:style>
        <p:txBody>
          <a:bodyPr/>
          <a:lstStyle/>
          <a:p>
            <a:endParaRPr lang="en-US"/>
          </a:p>
        </p:txBody>
      </p:sp>
      <p:sp>
        <p:nvSpPr>
          <p:cNvPr id="144" name="CustomShape 2">
            <a:extLst>
              <a:ext uri="{FF2B5EF4-FFF2-40B4-BE49-F238E27FC236}">
                <a16:creationId xmlns:a16="http://schemas.microsoft.com/office/drawing/2014/main" id="{07C64E6F-22DD-DE5C-5DC5-EBB714078E13}"/>
              </a:ext>
            </a:extLst>
          </p:cNvPr>
          <p:cNvSpPr/>
          <p:nvPr/>
        </p:nvSpPr>
        <p:spPr>
          <a:xfrm>
            <a:off x="312120" y="571039"/>
            <a:ext cx="7277400" cy="600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US" sz="1800" b="0" strike="noStrike" spc="-1" dirty="0">
              <a:latin typeface="Arial"/>
            </a:endParaRPr>
          </a:p>
        </p:txBody>
      </p:sp>
      <p:sp>
        <p:nvSpPr>
          <p:cNvPr id="145" name="CustomShape 3">
            <a:extLst>
              <a:ext uri="{FF2B5EF4-FFF2-40B4-BE49-F238E27FC236}">
                <a16:creationId xmlns:a16="http://schemas.microsoft.com/office/drawing/2014/main" id="{53F58233-F508-7BFF-9A92-C2BB88F0D7BE}"/>
              </a:ext>
            </a:extLst>
          </p:cNvPr>
          <p:cNvSpPr/>
          <p:nvPr/>
        </p:nvSpPr>
        <p:spPr>
          <a:xfrm>
            <a:off x="312120" y="18137"/>
            <a:ext cx="8517960" cy="57024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lstStyle/>
          <a:p>
            <a:pPr>
              <a:lnSpc>
                <a:spcPct val="100000"/>
              </a:lnSpc>
            </a:pPr>
            <a:r>
              <a:rPr lang="en-US" sz="2000" b="1" spc="-1" dirty="0">
                <a:solidFill>
                  <a:srgbClr val="0070C0"/>
                </a:solidFill>
                <a:latin typeface="Arial"/>
                <a:ea typeface="Arial"/>
              </a:rPr>
              <a:t>Paper discussion</a:t>
            </a:r>
            <a:endParaRPr lang="en-US" sz="2000" b="1" strike="noStrike" spc="-1" dirty="0">
              <a:solidFill>
                <a:srgbClr val="0070C0"/>
              </a:solidFill>
              <a:latin typeface="Arial"/>
              <a:ea typeface="Arial"/>
            </a:endParaRPr>
          </a:p>
        </p:txBody>
      </p:sp>
      <p:sp>
        <p:nvSpPr>
          <p:cNvPr id="3" name="TextBox 2">
            <a:extLst>
              <a:ext uri="{FF2B5EF4-FFF2-40B4-BE49-F238E27FC236}">
                <a16:creationId xmlns:a16="http://schemas.microsoft.com/office/drawing/2014/main" id="{2B1A589B-C1F6-E93E-7EB8-482E996DFE71}"/>
              </a:ext>
            </a:extLst>
          </p:cNvPr>
          <p:cNvSpPr txBox="1"/>
          <p:nvPr/>
        </p:nvSpPr>
        <p:spPr>
          <a:xfrm>
            <a:off x="374821" y="432539"/>
            <a:ext cx="8517959" cy="276999"/>
          </a:xfrm>
          <a:prstGeom prst="rect">
            <a:avLst/>
          </a:prstGeom>
          <a:noFill/>
        </p:spPr>
        <p:txBody>
          <a:bodyPr wrap="square">
            <a:spAutoFit/>
          </a:bodyPr>
          <a:lstStyle/>
          <a:p>
            <a:r>
              <a:rPr lang="en-US" sz="1200" spc="-1" dirty="0">
                <a:solidFill>
                  <a:srgbClr val="000000"/>
                </a:solidFill>
                <a:latin typeface="Arial"/>
                <a:ea typeface="Arial"/>
              </a:rPr>
              <a:t>My review paper is: “</a:t>
            </a:r>
            <a:r>
              <a:rPr lang="en-US" sz="1200" dirty="0"/>
              <a:t>Do Vision Transformers See Like Convolutional Neural Networks?”. Here is my short paper review.</a:t>
            </a:r>
          </a:p>
        </p:txBody>
      </p:sp>
      <p:sp>
        <p:nvSpPr>
          <p:cNvPr id="2" name="TextBox 1">
            <a:extLst>
              <a:ext uri="{FF2B5EF4-FFF2-40B4-BE49-F238E27FC236}">
                <a16:creationId xmlns:a16="http://schemas.microsoft.com/office/drawing/2014/main" id="{E834F19A-9D1C-1C69-93E4-B94772706BB8}"/>
              </a:ext>
            </a:extLst>
          </p:cNvPr>
          <p:cNvSpPr txBox="1"/>
          <p:nvPr/>
        </p:nvSpPr>
        <p:spPr>
          <a:xfrm>
            <a:off x="374821" y="726877"/>
            <a:ext cx="8569482" cy="4324261"/>
          </a:xfrm>
          <a:prstGeom prst="rect">
            <a:avLst/>
          </a:prstGeom>
          <a:solidFill>
            <a:schemeClr val="bg1">
              <a:lumMod val="95000"/>
            </a:schemeClr>
          </a:solidFill>
        </p:spPr>
        <p:txBody>
          <a:bodyPr wrap="square">
            <a:spAutoFit/>
          </a:bodyPr>
          <a:lstStyle/>
          <a:p>
            <a:r>
              <a:rPr lang="en-US" sz="1100" dirty="0">
                <a:solidFill>
                  <a:schemeClr val="accent3">
                    <a:lumMod val="50000"/>
                  </a:schemeClr>
                </a:solidFill>
              </a:rPr>
              <a:t>The paper “Do Vision Transformers See Like Convolutional Neural Networks?” </a:t>
            </a:r>
            <a:r>
              <a:rPr lang="en-US" sz="1100" dirty="0" err="1">
                <a:solidFill>
                  <a:schemeClr val="accent3">
                    <a:lumMod val="50000"/>
                  </a:schemeClr>
                </a:solidFill>
              </a:rPr>
              <a:t>studys</a:t>
            </a:r>
            <a:r>
              <a:rPr lang="en-US" sz="1100" dirty="0">
                <a:solidFill>
                  <a:schemeClr val="accent3">
                    <a:lumMod val="50000"/>
                  </a:schemeClr>
                </a:solidFill>
              </a:rPr>
              <a:t> whether Vision Transformers (</a:t>
            </a:r>
            <a:r>
              <a:rPr lang="en-US" sz="1100" dirty="0" err="1">
                <a:solidFill>
                  <a:schemeClr val="accent3">
                    <a:lumMod val="50000"/>
                  </a:schemeClr>
                </a:solidFill>
              </a:rPr>
              <a:t>ViTs</a:t>
            </a:r>
            <a:r>
              <a:rPr lang="en-US" sz="1100" dirty="0">
                <a:solidFill>
                  <a:schemeClr val="accent3">
                    <a:lumMod val="50000"/>
                  </a:schemeClr>
                </a:solidFill>
              </a:rPr>
              <a:t>) learn visual representations in the same way as traditional Convolutional Neural Networks (CNNs). Rather than focusing only on model performance, the authors analyze the internal representation structures of the two architectures. Using techniques such as Centered Kernel Alignment (CKA), attention distance analysis, and linear probing experiments, the paper shows that </a:t>
            </a:r>
            <a:r>
              <a:rPr lang="en-US" sz="1100" dirty="0" err="1">
                <a:solidFill>
                  <a:schemeClr val="accent3">
                    <a:lumMod val="50000"/>
                  </a:schemeClr>
                </a:solidFill>
              </a:rPr>
              <a:t>ViTs</a:t>
            </a:r>
            <a:r>
              <a:rPr lang="en-US" sz="1100" dirty="0">
                <a:solidFill>
                  <a:schemeClr val="accent3">
                    <a:lumMod val="50000"/>
                  </a:schemeClr>
                </a:solidFill>
              </a:rPr>
              <a:t> and CNNs learn fundamentally different visual representations.</a:t>
            </a:r>
          </a:p>
          <a:p>
            <a:endParaRPr lang="en-US" sz="1100" dirty="0">
              <a:solidFill>
                <a:schemeClr val="accent3">
                  <a:lumMod val="50000"/>
                </a:schemeClr>
              </a:solidFill>
            </a:endParaRPr>
          </a:p>
          <a:p>
            <a:r>
              <a:rPr lang="en-US" sz="1100" dirty="0">
                <a:solidFill>
                  <a:schemeClr val="accent3">
                    <a:lumMod val="50000"/>
                  </a:schemeClr>
                </a:solidFill>
              </a:rPr>
              <a:t>The main contribution of this paper is the systematic comparison of representation structures between </a:t>
            </a:r>
            <a:r>
              <a:rPr lang="en-US" sz="1100" dirty="0" err="1">
                <a:solidFill>
                  <a:schemeClr val="accent3">
                    <a:lumMod val="50000"/>
                  </a:schemeClr>
                </a:solidFill>
              </a:rPr>
              <a:t>ViTs</a:t>
            </a:r>
            <a:r>
              <a:rPr lang="en-US" sz="1100" dirty="0">
                <a:solidFill>
                  <a:schemeClr val="accent3">
                    <a:lumMod val="50000"/>
                  </a:schemeClr>
                </a:solidFill>
              </a:rPr>
              <a:t> and CNNs. The authors discover that </a:t>
            </a:r>
            <a:r>
              <a:rPr lang="en-US" sz="1100" dirty="0" err="1">
                <a:solidFill>
                  <a:schemeClr val="accent3">
                    <a:lumMod val="50000"/>
                  </a:schemeClr>
                </a:solidFill>
              </a:rPr>
              <a:t>ViTs</a:t>
            </a:r>
            <a:r>
              <a:rPr lang="en-US" sz="1100" dirty="0">
                <a:solidFill>
                  <a:schemeClr val="accent3">
                    <a:lumMod val="50000"/>
                  </a:schemeClr>
                </a:solidFill>
              </a:rPr>
              <a:t> exhibit more uniform representations across layers, while CNNs show stage-like transformations where representations evolve significantly between early and later layers. Moreover, </a:t>
            </a:r>
            <a:r>
              <a:rPr lang="en-US" sz="1100" dirty="0" err="1">
                <a:solidFill>
                  <a:schemeClr val="accent3">
                    <a:lumMod val="50000"/>
                  </a:schemeClr>
                </a:solidFill>
              </a:rPr>
              <a:t>ViTs</a:t>
            </a:r>
            <a:r>
              <a:rPr lang="en-US" sz="1100" dirty="0">
                <a:solidFill>
                  <a:schemeClr val="accent3">
                    <a:lumMod val="50000"/>
                  </a:schemeClr>
                </a:solidFill>
              </a:rPr>
              <a:t> can capture global information much earlier due to self-attention, whereas CNNs rely on gradually expanding receptive fields to aggregate global context. Additionally, the paper also highlights the importance of skip connections in </a:t>
            </a:r>
            <a:r>
              <a:rPr lang="en-US" sz="1100" dirty="0" err="1">
                <a:solidFill>
                  <a:schemeClr val="accent3">
                    <a:lumMod val="50000"/>
                  </a:schemeClr>
                </a:solidFill>
              </a:rPr>
              <a:t>ViTs</a:t>
            </a:r>
            <a:r>
              <a:rPr lang="en-US" sz="1100" dirty="0">
                <a:solidFill>
                  <a:schemeClr val="accent3">
                    <a:lumMod val="50000"/>
                  </a:schemeClr>
                </a:solidFill>
              </a:rPr>
              <a:t>, which strongly propagate representations through the network. And another key finding is that </a:t>
            </a:r>
            <a:r>
              <a:rPr lang="en-US" sz="1100" dirty="0" err="1">
                <a:solidFill>
                  <a:schemeClr val="accent3">
                    <a:lumMod val="50000"/>
                  </a:schemeClr>
                </a:solidFill>
              </a:rPr>
              <a:t>ViTs</a:t>
            </a:r>
            <a:r>
              <a:rPr lang="en-US" sz="1100" dirty="0">
                <a:solidFill>
                  <a:schemeClr val="accent3">
                    <a:lumMod val="50000"/>
                  </a:schemeClr>
                </a:solidFill>
              </a:rPr>
              <a:t> require large-scale pretraining datasets to learn effective local features that CNNs obtain naturally through convolutional inductive biases.</a:t>
            </a:r>
          </a:p>
          <a:p>
            <a:endParaRPr lang="en-US" sz="1100" dirty="0">
              <a:solidFill>
                <a:schemeClr val="accent3">
                  <a:lumMod val="50000"/>
                </a:schemeClr>
              </a:solidFill>
            </a:endParaRPr>
          </a:p>
          <a:p>
            <a:r>
              <a:rPr lang="en-US" sz="1100" dirty="0">
                <a:solidFill>
                  <a:schemeClr val="accent3">
                    <a:lumMod val="50000"/>
                  </a:schemeClr>
                </a:solidFill>
              </a:rPr>
              <a:t>Main strength of the paper is its comprehensive empirical analysis using multiple methods, including representation similarity metrics, attention visualization, and transfer learning experiments. These analyses provide deeper insights into how the two architectures process visual information. What’s more, the paper connects observed behaviors directly to architectural components such as self-attention and residual connections. However, the paper also has some limitations. The experiments focus mainly on image classification tasks, which may limit generalization to other computer vision problems. Additionally, the reliance on a single similarity metric (CKA) may not capture all aspects of neural representations.</a:t>
            </a:r>
          </a:p>
          <a:p>
            <a:endParaRPr lang="en-US" sz="1100" dirty="0">
              <a:solidFill>
                <a:schemeClr val="accent3">
                  <a:lumMod val="50000"/>
                </a:schemeClr>
              </a:solidFill>
            </a:endParaRPr>
          </a:p>
          <a:p>
            <a:r>
              <a:rPr lang="en-US" sz="1100" dirty="0">
                <a:solidFill>
                  <a:schemeClr val="accent3">
                    <a:lumMod val="50000"/>
                  </a:schemeClr>
                </a:solidFill>
              </a:rPr>
              <a:t>My personal takeaway is that Vision Transformers do not simply replicate CNN behavior but instead learn visual features through a fundamentally different mechanism. The study also highlights the importance of dataset scale for transformer models. A promising future research direction would be designing hybrid architectures that combine CNN inductive biases with transformer flexibility, which may achieve strong performance while reducing the need for extremely large datasets.</a:t>
            </a:r>
          </a:p>
        </p:txBody>
      </p:sp>
    </p:spTree>
    <p:extLst>
      <p:ext uri="{BB962C8B-B14F-4D97-AF65-F5344CB8AC3E}">
        <p14:creationId xmlns:p14="http://schemas.microsoft.com/office/powerpoint/2010/main" val="9072760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CustomShape 1"/>
          <p:cNvSpPr/>
          <p:nvPr/>
        </p:nvSpPr>
        <p:spPr>
          <a:xfrm>
            <a:off x="311760" y="1152360"/>
            <a:ext cx="8518680" cy="3414600"/>
          </a:xfrm>
          <a:prstGeom prst="rect">
            <a:avLst/>
          </a:prstGeom>
          <a:noFill/>
          <a:ln>
            <a:noFill/>
          </a:ln>
        </p:spPr>
        <p:style>
          <a:lnRef idx="0">
            <a:scrgbClr r="0" g="0" b="0"/>
          </a:lnRef>
          <a:fillRef idx="0">
            <a:scrgbClr r="0" g="0" b="0"/>
          </a:fillRef>
          <a:effectRef idx="0">
            <a:scrgbClr r="0" g="0" b="0"/>
          </a:effectRef>
          <a:fontRef idx="minor"/>
        </p:style>
        <p:txBody>
          <a:bodyPr/>
          <a:lstStyle/>
          <a:p>
            <a:endParaRPr lang="en-US"/>
          </a:p>
        </p:txBody>
      </p:sp>
      <p:sp>
        <p:nvSpPr>
          <p:cNvPr id="144" name="CustomShape 2"/>
          <p:cNvSpPr/>
          <p:nvPr/>
        </p:nvSpPr>
        <p:spPr>
          <a:xfrm>
            <a:off x="312120" y="571039"/>
            <a:ext cx="7277400" cy="600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US" sz="1800" b="0" strike="noStrike" spc="-1" dirty="0">
              <a:latin typeface="Arial"/>
            </a:endParaRPr>
          </a:p>
        </p:txBody>
      </p:sp>
      <p:sp>
        <p:nvSpPr>
          <p:cNvPr id="145" name="CustomShape 3"/>
          <p:cNvSpPr/>
          <p:nvPr/>
        </p:nvSpPr>
        <p:spPr>
          <a:xfrm>
            <a:off x="312120" y="18137"/>
            <a:ext cx="8517960" cy="57024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lstStyle/>
          <a:p>
            <a:pPr>
              <a:lnSpc>
                <a:spcPct val="100000"/>
              </a:lnSpc>
            </a:pPr>
            <a:r>
              <a:rPr lang="en-US" sz="2000" b="1" spc="-1" dirty="0">
                <a:solidFill>
                  <a:srgbClr val="0070C0"/>
                </a:solidFill>
                <a:latin typeface="Arial"/>
                <a:ea typeface="Arial"/>
              </a:rPr>
              <a:t>Paper discussion</a:t>
            </a:r>
            <a:endParaRPr lang="en-US" sz="2000" b="1" strike="noStrike" spc="-1" dirty="0">
              <a:solidFill>
                <a:srgbClr val="0070C0"/>
              </a:solidFill>
              <a:latin typeface="Arial"/>
              <a:ea typeface="Arial"/>
            </a:endParaRPr>
          </a:p>
        </p:txBody>
      </p:sp>
      <p:sp>
        <p:nvSpPr>
          <p:cNvPr id="5" name="TextBox 4">
            <a:extLst>
              <a:ext uri="{FF2B5EF4-FFF2-40B4-BE49-F238E27FC236}">
                <a16:creationId xmlns:a16="http://schemas.microsoft.com/office/drawing/2014/main" id="{7480F4F5-3F32-E66C-64DC-B8C1873BF25E}"/>
              </a:ext>
            </a:extLst>
          </p:cNvPr>
          <p:cNvSpPr txBox="1"/>
          <p:nvPr/>
        </p:nvSpPr>
        <p:spPr>
          <a:xfrm>
            <a:off x="374821" y="432539"/>
            <a:ext cx="8517959" cy="276999"/>
          </a:xfrm>
          <a:prstGeom prst="rect">
            <a:avLst/>
          </a:prstGeom>
          <a:noFill/>
        </p:spPr>
        <p:txBody>
          <a:bodyPr wrap="square">
            <a:spAutoFit/>
          </a:bodyPr>
          <a:lstStyle/>
          <a:p>
            <a:r>
              <a:rPr lang="en-US" sz="1200" spc="-1" dirty="0">
                <a:solidFill>
                  <a:srgbClr val="000000"/>
                </a:solidFill>
                <a:latin typeface="Arial"/>
                <a:ea typeface="Arial"/>
              </a:rPr>
              <a:t>My review paper is: “</a:t>
            </a:r>
            <a:r>
              <a:rPr lang="en-US" sz="1200" dirty="0"/>
              <a:t>Do Vision Transformers See Like Convolutional Neural Networks?”. Here is my answer to Q1.</a:t>
            </a:r>
          </a:p>
        </p:txBody>
      </p:sp>
      <p:sp>
        <p:nvSpPr>
          <p:cNvPr id="6" name="TextBox 5">
            <a:extLst>
              <a:ext uri="{FF2B5EF4-FFF2-40B4-BE49-F238E27FC236}">
                <a16:creationId xmlns:a16="http://schemas.microsoft.com/office/drawing/2014/main" id="{9A7D4840-42F0-615B-5BEB-85BAF14E4C3C}"/>
              </a:ext>
            </a:extLst>
          </p:cNvPr>
          <p:cNvSpPr txBox="1"/>
          <p:nvPr/>
        </p:nvSpPr>
        <p:spPr>
          <a:xfrm>
            <a:off x="323298" y="871099"/>
            <a:ext cx="8569482" cy="3816429"/>
          </a:xfrm>
          <a:prstGeom prst="rect">
            <a:avLst/>
          </a:prstGeom>
          <a:solidFill>
            <a:schemeClr val="bg2"/>
          </a:solidFill>
        </p:spPr>
        <p:txBody>
          <a:bodyPr wrap="square">
            <a:spAutoFit/>
          </a:bodyPr>
          <a:lstStyle/>
          <a:p>
            <a:r>
              <a:rPr lang="en-US" sz="1100" dirty="0">
                <a:solidFill>
                  <a:schemeClr val="accent3">
                    <a:lumMod val="50000"/>
                  </a:schemeClr>
                </a:solidFill>
              </a:rPr>
              <a:t>Vision Transformers (</a:t>
            </a:r>
            <a:r>
              <a:rPr lang="en-US" sz="1100" dirty="0" err="1">
                <a:solidFill>
                  <a:schemeClr val="accent3">
                    <a:lumMod val="50000"/>
                  </a:schemeClr>
                </a:solidFill>
              </a:rPr>
              <a:t>ViTs</a:t>
            </a:r>
            <a:r>
              <a:rPr lang="en-US" sz="1100" dirty="0">
                <a:solidFill>
                  <a:schemeClr val="accent3">
                    <a:lumMod val="50000"/>
                  </a:schemeClr>
                </a:solidFill>
              </a:rPr>
              <a:t>) and Convolutional Neural Networks (CNNs) differ fundamentally in both architecture and training behavior, which leads to distinct learned feature representations. </a:t>
            </a:r>
          </a:p>
          <a:p>
            <a:endParaRPr lang="en-US" sz="1100" dirty="0">
              <a:solidFill>
                <a:schemeClr val="accent3">
                  <a:lumMod val="50000"/>
                </a:schemeClr>
              </a:solidFill>
            </a:endParaRPr>
          </a:p>
          <a:p>
            <a:pPr indent="-171450">
              <a:buFont typeface="Arial" panose="020B0604020202020204" pitchFamily="34" charset="0"/>
              <a:buChar char="•"/>
            </a:pPr>
            <a:r>
              <a:rPr lang="en-US" sz="1100" dirty="0">
                <a:solidFill>
                  <a:schemeClr val="accent3">
                    <a:lumMod val="50000"/>
                  </a:schemeClr>
                </a:solidFill>
              </a:rPr>
              <a:t>First, about architectural differences, CNNs rely on convolutional filters with local receptive fields, meaning early layers process information from small spatial regions and gradually expand to capture global context. This hierarchical structure imposes strong inductive biases, such as translation equivariance and locality. In contrast, </a:t>
            </a:r>
            <a:r>
              <a:rPr lang="en-US" sz="1100" dirty="0" err="1">
                <a:solidFill>
                  <a:schemeClr val="accent3">
                    <a:lumMod val="50000"/>
                  </a:schemeClr>
                </a:solidFill>
              </a:rPr>
              <a:t>ViTs</a:t>
            </a:r>
            <a:r>
              <a:rPr lang="en-US" sz="1100" dirty="0">
                <a:solidFill>
                  <a:schemeClr val="accent3">
                    <a:lumMod val="50000"/>
                  </a:schemeClr>
                </a:solidFill>
              </a:rPr>
              <a:t> process images as sequences of patches and apply self-attention, allowing each token to attend to all other tokens in the image from the earliest layers. As a result, </a:t>
            </a:r>
            <a:r>
              <a:rPr lang="en-US" sz="1100" dirty="0" err="1">
                <a:solidFill>
                  <a:schemeClr val="accent3">
                    <a:lumMod val="50000"/>
                  </a:schemeClr>
                </a:solidFill>
              </a:rPr>
              <a:t>ViTs</a:t>
            </a:r>
            <a:r>
              <a:rPr lang="en-US" sz="1100" dirty="0">
                <a:solidFill>
                  <a:schemeClr val="accent3">
                    <a:lumMod val="50000"/>
                  </a:schemeClr>
                </a:solidFill>
              </a:rPr>
              <a:t> can aggregate global information much earlier than CNNs. The paper shows that </a:t>
            </a:r>
            <a:r>
              <a:rPr lang="en-US" sz="1100" dirty="0" err="1">
                <a:solidFill>
                  <a:schemeClr val="accent3">
                    <a:lumMod val="50000"/>
                  </a:schemeClr>
                </a:solidFill>
              </a:rPr>
              <a:t>ViT</a:t>
            </a:r>
            <a:r>
              <a:rPr lang="en-US" sz="1100" dirty="0">
                <a:solidFill>
                  <a:schemeClr val="accent3">
                    <a:lumMod val="50000"/>
                  </a:schemeClr>
                </a:solidFill>
              </a:rPr>
              <a:t> layers have more uniform representation similarity across layers, while CNNs exhibit stage-like representation structures corresponding to convolutional blocks.</a:t>
            </a:r>
          </a:p>
          <a:p>
            <a:endParaRPr lang="en-US" sz="1100" dirty="0">
              <a:solidFill>
                <a:schemeClr val="accent3">
                  <a:lumMod val="50000"/>
                </a:schemeClr>
              </a:solidFill>
            </a:endParaRPr>
          </a:p>
          <a:p>
            <a:pPr indent="-171450">
              <a:buFont typeface="Arial" panose="020B0604020202020204" pitchFamily="34" charset="0"/>
              <a:buChar char="•"/>
            </a:pPr>
            <a:r>
              <a:rPr lang="en-US" sz="1100" dirty="0">
                <a:solidFill>
                  <a:schemeClr val="accent3">
                    <a:lumMod val="50000"/>
                  </a:schemeClr>
                </a:solidFill>
              </a:rPr>
              <a:t>Second, about representation structure, using Centered Kernel Alignment (CKA), the authors find that </a:t>
            </a:r>
            <a:r>
              <a:rPr lang="en-US" sz="1100" dirty="0" err="1">
                <a:solidFill>
                  <a:schemeClr val="accent3">
                    <a:lumMod val="50000"/>
                  </a:schemeClr>
                </a:solidFill>
              </a:rPr>
              <a:t>ViT</a:t>
            </a:r>
            <a:r>
              <a:rPr lang="en-US" sz="1100" dirty="0">
                <a:solidFill>
                  <a:schemeClr val="accent3">
                    <a:lumMod val="50000"/>
                  </a:schemeClr>
                </a:solidFill>
              </a:rPr>
              <a:t> representations remain highly similar across layers, whereas CNNs show more progressive feature transformation. In CNNs, lower layers focus on edges and textures while higher layers capture semantic concepts. In </a:t>
            </a:r>
            <a:r>
              <a:rPr lang="en-US" sz="1100" dirty="0" err="1">
                <a:solidFill>
                  <a:schemeClr val="accent3">
                    <a:lumMod val="50000"/>
                  </a:schemeClr>
                </a:solidFill>
              </a:rPr>
              <a:t>ViTs</a:t>
            </a:r>
            <a:r>
              <a:rPr lang="en-US" sz="1100" dirty="0">
                <a:solidFill>
                  <a:schemeClr val="accent3">
                    <a:lumMod val="50000"/>
                  </a:schemeClr>
                </a:solidFill>
              </a:rPr>
              <a:t>, features propagate more directly across layers due to strong residual connections.</a:t>
            </a:r>
          </a:p>
          <a:p>
            <a:endParaRPr lang="en-US" sz="1100" dirty="0">
              <a:solidFill>
                <a:schemeClr val="accent3">
                  <a:lumMod val="50000"/>
                </a:schemeClr>
              </a:solidFill>
            </a:endParaRPr>
          </a:p>
          <a:p>
            <a:pPr indent="-171450">
              <a:buFont typeface="Arial" panose="020B0604020202020204" pitchFamily="34" charset="0"/>
              <a:buChar char="•"/>
            </a:pPr>
            <a:r>
              <a:rPr lang="en-US" sz="1100" dirty="0">
                <a:solidFill>
                  <a:schemeClr val="accent3">
                    <a:lumMod val="50000"/>
                  </a:schemeClr>
                </a:solidFill>
              </a:rPr>
              <a:t>Third, for the Global and local information, self-attention enables </a:t>
            </a:r>
            <a:r>
              <a:rPr lang="en-US" sz="1100" dirty="0" err="1">
                <a:solidFill>
                  <a:schemeClr val="accent3">
                    <a:lumMod val="50000"/>
                  </a:schemeClr>
                </a:solidFill>
              </a:rPr>
              <a:t>ViTs</a:t>
            </a:r>
            <a:r>
              <a:rPr lang="en-US" sz="1100" dirty="0">
                <a:solidFill>
                  <a:schemeClr val="accent3">
                    <a:lumMod val="50000"/>
                  </a:schemeClr>
                </a:solidFill>
              </a:rPr>
              <a:t> to combine both local and global information early in the network. Experiments show that some attention heads focus on local regions while others attend globally, even in early layers. CNNs cannot access such global context early because their receptive fields grow gradually.</a:t>
            </a:r>
          </a:p>
          <a:p>
            <a:endParaRPr lang="en-US" sz="1100" dirty="0">
              <a:solidFill>
                <a:schemeClr val="accent3">
                  <a:lumMod val="50000"/>
                </a:schemeClr>
              </a:solidFill>
            </a:endParaRPr>
          </a:p>
          <a:p>
            <a:pPr indent="-171450">
              <a:buFont typeface="Arial" panose="020B0604020202020204" pitchFamily="34" charset="0"/>
              <a:buChar char="•"/>
            </a:pPr>
            <a:r>
              <a:rPr lang="en-US" sz="1100" dirty="0">
                <a:solidFill>
                  <a:schemeClr val="accent3">
                    <a:lumMod val="50000"/>
                  </a:schemeClr>
                </a:solidFill>
              </a:rPr>
              <a:t>Finally, to training differences. </a:t>
            </a:r>
            <a:r>
              <a:rPr lang="en-US" sz="1100" dirty="0" err="1">
                <a:solidFill>
                  <a:schemeClr val="accent3">
                    <a:lumMod val="50000"/>
                  </a:schemeClr>
                </a:solidFill>
              </a:rPr>
              <a:t>ViTs</a:t>
            </a:r>
            <a:r>
              <a:rPr lang="en-US" sz="1100" dirty="0">
                <a:solidFill>
                  <a:schemeClr val="accent3">
                    <a:lumMod val="50000"/>
                  </a:schemeClr>
                </a:solidFill>
              </a:rPr>
              <a:t> depend heavily on large-scale pretraining datasets (e.g., JFT-300M) to learn useful representations. Without sufficient data, they struggle to learn local features effectively. CNNs perform well even with smaller datasets because their convolutional structure already encodes useful image priors.</a:t>
            </a:r>
          </a:p>
        </p:txBody>
      </p:sp>
    </p:spTree>
    <p:extLst>
      <p:ext uri="{BB962C8B-B14F-4D97-AF65-F5344CB8AC3E}">
        <p14:creationId xmlns:p14="http://schemas.microsoft.com/office/powerpoint/2010/main" val="3601891300"/>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9E245-9778-39CE-D088-52E9ACE05E27}"/>
            </a:ext>
          </a:extLst>
        </p:cNvPr>
        <p:cNvGrpSpPr/>
        <p:nvPr/>
      </p:nvGrpSpPr>
      <p:grpSpPr>
        <a:xfrm>
          <a:off x="0" y="0"/>
          <a:ext cx="0" cy="0"/>
          <a:chOff x="0" y="0"/>
          <a:chExt cx="0" cy="0"/>
        </a:xfrm>
      </p:grpSpPr>
      <p:sp>
        <p:nvSpPr>
          <p:cNvPr id="143" name="CustomShape 1">
            <a:extLst>
              <a:ext uri="{FF2B5EF4-FFF2-40B4-BE49-F238E27FC236}">
                <a16:creationId xmlns:a16="http://schemas.microsoft.com/office/drawing/2014/main" id="{F14FC9F4-05AA-4858-57FB-FAFAEF6042D7}"/>
              </a:ext>
            </a:extLst>
          </p:cNvPr>
          <p:cNvSpPr/>
          <p:nvPr/>
        </p:nvSpPr>
        <p:spPr>
          <a:xfrm>
            <a:off x="311760" y="1152360"/>
            <a:ext cx="8518680" cy="3414600"/>
          </a:xfrm>
          <a:prstGeom prst="rect">
            <a:avLst/>
          </a:prstGeom>
          <a:noFill/>
          <a:ln>
            <a:noFill/>
          </a:ln>
        </p:spPr>
        <p:style>
          <a:lnRef idx="0">
            <a:scrgbClr r="0" g="0" b="0"/>
          </a:lnRef>
          <a:fillRef idx="0">
            <a:scrgbClr r="0" g="0" b="0"/>
          </a:fillRef>
          <a:effectRef idx="0">
            <a:scrgbClr r="0" g="0" b="0"/>
          </a:effectRef>
          <a:fontRef idx="minor"/>
        </p:style>
        <p:txBody>
          <a:bodyPr/>
          <a:lstStyle/>
          <a:p>
            <a:endParaRPr lang="en-US"/>
          </a:p>
        </p:txBody>
      </p:sp>
      <p:sp>
        <p:nvSpPr>
          <p:cNvPr id="144" name="CustomShape 2">
            <a:extLst>
              <a:ext uri="{FF2B5EF4-FFF2-40B4-BE49-F238E27FC236}">
                <a16:creationId xmlns:a16="http://schemas.microsoft.com/office/drawing/2014/main" id="{1AD7FA19-2051-A6DF-5EBF-A5FD18B387D3}"/>
              </a:ext>
            </a:extLst>
          </p:cNvPr>
          <p:cNvSpPr/>
          <p:nvPr/>
        </p:nvSpPr>
        <p:spPr>
          <a:xfrm>
            <a:off x="312120" y="571039"/>
            <a:ext cx="7277400" cy="600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US" sz="1800" b="0" strike="noStrike" spc="-1" dirty="0">
              <a:latin typeface="Arial"/>
            </a:endParaRPr>
          </a:p>
        </p:txBody>
      </p:sp>
      <p:sp>
        <p:nvSpPr>
          <p:cNvPr id="145" name="CustomShape 3">
            <a:extLst>
              <a:ext uri="{FF2B5EF4-FFF2-40B4-BE49-F238E27FC236}">
                <a16:creationId xmlns:a16="http://schemas.microsoft.com/office/drawing/2014/main" id="{1942CD85-873B-82E9-28A2-AE5BE3346EFF}"/>
              </a:ext>
            </a:extLst>
          </p:cNvPr>
          <p:cNvSpPr/>
          <p:nvPr/>
        </p:nvSpPr>
        <p:spPr>
          <a:xfrm>
            <a:off x="312120" y="18137"/>
            <a:ext cx="8517960" cy="57024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lstStyle/>
          <a:p>
            <a:pPr>
              <a:lnSpc>
                <a:spcPct val="100000"/>
              </a:lnSpc>
            </a:pPr>
            <a:r>
              <a:rPr lang="en-US" sz="2000" b="1" spc="-1" dirty="0">
                <a:solidFill>
                  <a:srgbClr val="0070C0"/>
                </a:solidFill>
                <a:latin typeface="Arial"/>
                <a:ea typeface="Arial"/>
              </a:rPr>
              <a:t>Paper discussion</a:t>
            </a:r>
            <a:endParaRPr lang="en-US" sz="2000" b="1" strike="noStrike" spc="-1" dirty="0">
              <a:solidFill>
                <a:srgbClr val="0070C0"/>
              </a:solidFill>
              <a:latin typeface="Arial"/>
              <a:ea typeface="Arial"/>
            </a:endParaRPr>
          </a:p>
        </p:txBody>
      </p:sp>
      <p:sp>
        <p:nvSpPr>
          <p:cNvPr id="3" name="TextBox 2">
            <a:extLst>
              <a:ext uri="{FF2B5EF4-FFF2-40B4-BE49-F238E27FC236}">
                <a16:creationId xmlns:a16="http://schemas.microsoft.com/office/drawing/2014/main" id="{C21913F1-432A-74B9-EB3E-DC42361BA66A}"/>
              </a:ext>
            </a:extLst>
          </p:cNvPr>
          <p:cNvSpPr txBox="1"/>
          <p:nvPr/>
        </p:nvSpPr>
        <p:spPr>
          <a:xfrm>
            <a:off x="374821" y="432539"/>
            <a:ext cx="8517959" cy="276999"/>
          </a:xfrm>
          <a:prstGeom prst="rect">
            <a:avLst/>
          </a:prstGeom>
          <a:noFill/>
        </p:spPr>
        <p:txBody>
          <a:bodyPr wrap="square">
            <a:spAutoFit/>
          </a:bodyPr>
          <a:lstStyle/>
          <a:p>
            <a:r>
              <a:rPr lang="en-US" sz="1200" spc="-1" dirty="0">
                <a:solidFill>
                  <a:srgbClr val="000000"/>
                </a:solidFill>
                <a:latin typeface="Arial"/>
                <a:ea typeface="Arial"/>
              </a:rPr>
              <a:t>My review paper is: “</a:t>
            </a:r>
            <a:r>
              <a:rPr lang="en-US" sz="1200" dirty="0"/>
              <a:t>Do Vision Transformers See Like Convolutional Neural Networks?”. Here is my answer to Q2.</a:t>
            </a:r>
          </a:p>
        </p:txBody>
      </p:sp>
      <p:sp>
        <p:nvSpPr>
          <p:cNvPr id="2" name="TextBox 1">
            <a:extLst>
              <a:ext uri="{FF2B5EF4-FFF2-40B4-BE49-F238E27FC236}">
                <a16:creationId xmlns:a16="http://schemas.microsoft.com/office/drawing/2014/main" id="{0CD8B91C-6AAB-EA47-DBFE-437D5B2CD76C}"/>
              </a:ext>
            </a:extLst>
          </p:cNvPr>
          <p:cNvSpPr txBox="1"/>
          <p:nvPr/>
        </p:nvSpPr>
        <p:spPr>
          <a:xfrm>
            <a:off x="349059" y="1031199"/>
            <a:ext cx="8427079" cy="2970044"/>
          </a:xfrm>
          <a:prstGeom prst="rect">
            <a:avLst/>
          </a:prstGeom>
          <a:solidFill>
            <a:schemeClr val="bg2"/>
          </a:solidFill>
        </p:spPr>
        <p:txBody>
          <a:bodyPr wrap="square">
            <a:spAutoFit/>
          </a:bodyPr>
          <a:lstStyle/>
          <a:p>
            <a:r>
              <a:rPr lang="en-US" sz="1100" dirty="0">
                <a:solidFill>
                  <a:schemeClr val="accent3">
                    <a:lumMod val="50000"/>
                  </a:schemeClr>
                </a:solidFill>
              </a:rPr>
              <a:t>Spatial localization refers to a model’s ability to preserve and identify the spatial position of visual features within an image. In other words, it describes how well the model can determine where an object or feature appears in the input image. For tasks such as object detection, segmentation, and tracking, maintaining spatial information is crucial because the model must identify both what the object is and where it is located.</a:t>
            </a:r>
          </a:p>
          <a:p>
            <a:endParaRPr lang="en-US" sz="1100" dirty="0">
              <a:solidFill>
                <a:schemeClr val="accent3">
                  <a:lumMod val="50000"/>
                </a:schemeClr>
              </a:solidFill>
            </a:endParaRPr>
          </a:p>
          <a:p>
            <a:r>
              <a:rPr lang="en-US" sz="1100" dirty="0">
                <a:solidFill>
                  <a:schemeClr val="accent3">
                    <a:lumMod val="50000"/>
                  </a:schemeClr>
                </a:solidFill>
              </a:rPr>
              <a:t>In the paper, the authors analyze spatial localization by measuring the similarity between representations of tokens in the network and different image patches. They show that Vision Transformers (</a:t>
            </a:r>
            <a:r>
              <a:rPr lang="en-US" sz="1100" dirty="0" err="1">
                <a:solidFill>
                  <a:schemeClr val="accent3">
                    <a:lumMod val="50000"/>
                  </a:schemeClr>
                </a:solidFill>
              </a:rPr>
              <a:t>ViTs</a:t>
            </a:r>
            <a:r>
              <a:rPr lang="en-US" sz="1100" dirty="0">
                <a:solidFill>
                  <a:schemeClr val="accent3">
                    <a:lumMod val="50000"/>
                  </a:schemeClr>
                </a:solidFill>
              </a:rPr>
              <a:t>) maintain strong correspondence between tokens and their original spatial locations, even in higher layers of the network. This means that each token representation remains closely related to its corresponding image patch, preserving spatial structure throughout the model.</a:t>
            </a:r>
          </a:p>
          <a:p>
            <a:endParaRPr lang="en-US" sz="1100" dirty="0">
              <a:solidFill>
                <a:schemeClr val="accent3">
                  <a:lumMod val="50000"/>
                </a:schemeClr>
              </a:solidFill>
            </a:endParaRPr>
          </a:p>
          <a:p>
            <a:r>
              <a:rPr lang="en-US" sz="1100" dirty="0" err="1">
                <a:solidFill>
                  <a:schemeClr val="accent3">
                    <a:lumMod val="50000"/>
                  </a:schemeClr>
                </a:solidFill>
              </a:rPr>
              <a:t>ViTs</a:t>
            </a:r>
            <a:r>
              <a:rPr lang="en-US" sz="1100" dirty="0">
                <a:solidFill>
                  <a:schemeClr val="accent3">
                    <a:lumMod val="50000"/>
                  </a:schemeClr>
                </a:solidFill>
              </a:rPr>
              <a:t> may therefore be better suited for object detection because they retain clearer spatial information than CNNs in later layers. In contrast, CNNs typically use operations such as pooling and global aggregation that gradually reduce spatial precision. Additionally, </a:t>
            </a:r>
            <a:r>
              <a:rPr lang="en-US" sz="1100" dirty="0" err="1">
                <a:solidFill>
                  <a:schemeClr val="accent3">
                    <a:lumMod val="50000"/>
                  </a:schemeClr>
                </a:solidFill>
              </a:rPr>
              <a:t>ViTs</a:t>
            </a:r>
            <a:r>
              <a:rPr lang="en-US" sz="1100" dirty="0">
                <a:solidFill>
                  <a:schemeClr val="accent3">
                    <a:lumMod val="50000"/>
                  </a:schemeClr>
                </a:solidFill>
              </a:rPr>
              <a:t> use self-attention, which allows each token to attend to all other regions in the image. This enables the model to capture both local details and long-range relationships, which can help identify objects more accurately and understand their context.</a:t>
            </a:r>
          </a:p>
          <a:p>
            <a:endParaRPr lang="en-US" sz="1100" dirty="0">
              <a:solidFill>
                <a:schemeClr val="accent3">
                  <a:lumMod val="50000"/>
                </a:schemeClr>
              </a:solidFill>
            </a:endParaRPr>
          </a:p>
          <a:p>
            <a:r>
              <a:rPr lang="en-US" sz="1100" dirty="0">
                <a:solidFill>
                  <a:schemeClr val="accent3">
                    <a:lumMod val="50000"/>
                  </a:schemeClr>
                </a:solidFill>
              </a:rPr>
              <a:t>Overall, the strong spatial localization properties of </a:t>
            </a:r>
            <a:r>
              <a:rPr lang="en-US" sz="1100" dirty="0" err="1">
                <a:solidFill>
                  <a:schemeClr val="accent3">
                    <a:lumMod val="50000"/>
                  </a:schemeClr>
                </a:solidFill>
              </a:rPr>
              <a:t>ViTs</a:t>
            </a:r>
            <a:r>
              <a:rPr lang="en-US" sz="1100" dirty="0">
                <a:solidFill>
                  <a:schemeClr val="accent3">
                    <a:lumMod val="50000"/>
                  </a:schemeClr>
                </a:solidFill>
              </a:rPr>
              <a:t> make them promising architectures for tasks requiring precise object location.</a:t>
            </a:r>
          </a:p>
        </p:txBody>
      </p:sp>
    </p:spTree>
    <p:extLst>
      <p:ext uri="{BB962C8B-B14F-4D97-AF65-F5344CB8AC3E}">
        <p14:creationId xmlns:p14="http://schemas.microsoft.com/office/powerpoint/2010/main" val="3046048158"/>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4200</TotalTime>
  <Words>4407</Words>
  <Application>Microsoft Office PowerPoint</Application>
  <PresentationFormat>On-screen Show (16:9)</PresentationFormat>
  <Paragraphs>244</Paragraphs>
  <Slides>19</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19</vt:i4>
      </vt:variant>
    </vt:vector>
  </HeadingPairs>
  <TitlesOfParts>
    <vt:vector size="27" baseType="lpstr">
      <vt:lpstr>Aptos</vt:lpstr>
      <vt:lpstr>Arial</vt:lpstr>
      <vt:lpstr>Symbol</vt:lpstr>
      <vt:lpstr>Times New Roman</vt:lpstr>
      <vt:lpstr>Wingdings</vt:lpstr>
      <vt:lpstr>Office Theme</vt:lpstr>
      <vt:lpstr>Office Theme</vt:lpstr>
      <vt:lpstr>Office Theme</vt:lpstr>
      <vt:lpstr>PowerPoint Presentation</vt:lpstr>
      <vt:lpstr>Seq2Seq Results – Default configuration Values are for last epoch</vt:lpstr>
      <vt:lpstr>PowerPoint Presentation</vt:lpstr>
      <vt:lpstr>PowerPoint Presentation</vt:lpstr>
      <vt:lpstr>Seq2Seq Results – Best model Values are for last epoch</vt:lpstr>
      <vt:lpstr>Seq2Seq Best model Learning Curves (Perplexity)</vt:lpstr>
      <vt:lpstr>PowerPoint Presentation</vt:lpstr>
      <vt:lpstr>Transformer Results Values are for last epoch</vt:lpstr>
      <vt:lpstr>Full Transformer Best model Learning Curves (Perplexity)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4</dc:title>
  <dc:subject/>
  <dc:creator>Kirby Chen</dc:creator>
  <dc:description/>
  <cp:lastModifiedBy>Chen, Danbo</cp:lastModifiedBy>
  <cp:revision>33</cp:revision>
  <dcterms:modified xsi:type="dcterms:W3CDTF">2026-03-16T22:49:49Z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3</vt:i4>
  </property>
  <property fmtid="{D5CDD505-2E9C-101B-9397-08002B2CF9AE}" pid="8" name="PresentationFormat">
    <vt:lpwstr>On-screen Show (16:9)</vt:lpwstr>
  </property>
  <property fmtid="{D5CDD505-2E9C-101B-9397-08002B2CF9AE}" pid="9" name="ScaleCrop">
    <vt:bool>false</vt:bool>
  </property>
  <property fmtid="{D5CDD505-2E9C-101B-9397-08002B2CF9AE}" pid="10" name="ShareDoc">
    <vt:bool>false</vt:bool>
  </property>
  <property fmtid="{D5CDD505-2E9C-101B-9397-08002B2CF9AE}" pid="11" name="Slides">
    <vt:i4>3</vt:i4>
  </property>
</Properties>
</file>